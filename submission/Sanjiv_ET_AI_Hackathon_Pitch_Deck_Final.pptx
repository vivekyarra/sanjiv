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903509858c34ce7" /><Relationship Type="http://schemas.openxmlformats.org/officeDocument/2006/relationships/extended-properties" Target="/docProps/app.xml" Id="R971f390629574b8c" /><Relationship Type="http://schemas.openxmlformats.org/officeDocument/2006/relationships/officeDocument" Target="/ppt/presentation.xml" Id="R9ef1b698230343d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7d93e0160634a7c"/>
  </p:sldMasterIdLst>
  <p:notesMasterIdLst>
    <p:notesMasterId xmlns:r="http://schemas.openxmlformats.org/officeDocument/2006/relationships" r:id="R358ec620093644d6"/>
  </p:notesMasterIdLst>
  <p:sldIdLst>
    <p:sldId xmlns:r="http://schemas.openxmlformats.org/officeDocument/2006/relationships" id="256" r:id="R99e48aa270a44afa"/>
    <p:sldId xmlns:r="http://schemas.openxmlformats.org/officeDocument/2006/relationships" id="257" r:id="R59ecb282e6594dfb"/>
    <p:sldId xmlns:r="http://schemas.openxmlformats.org/officeDocument/2006/relationships" id="258" r:id="R526991beb26e41b6"/>
    <p:sldId xmlns:r="http://schemas.openxmlformats.org/officeDocument/2006/relationships" id="259" r:id="Ra9e9d88242f04feb"/>
    <p:sldId xmlns:r="http://schemas.openxmlformats.org/officeDocument/2006/relationships" id="260" r:id="R701815b2b6f94c43"/>
    <p:sldId xmlns:r="http://schemas.openxmlformats.org/officeDocument/2006/relationships" id="261" r:id="R07245453f8ab4aac"/>
    <p:sldId xmlns:r="http://schemas.openxmlformats.org/officeDocument/2006/relationships" id="262" r:id="R1be1346f0a3748d8"/>
    <p:sldId xmlns:r="http://schemas.openxmlformats.org/officeDocument/2006/relationships" id="263" r:id="R6781edc1ad5d4b90"/>
    <p:sldId xmlns:r="http://schemas.openxmlformats.org/officeDocument/2006/relationships" id="264" r:id="Rf9a58ab296b646ae"/>
    <p:sldId xmlns:r="http://schemas.openxmlformats.org/officeDocument/2006/relationships" id="265" r:id="Rfd403f791c0941f3"/>
    <p:sldId xmlns:r="http://schemas.openxmlformats.org/officeDocument/2006/relationships" id="266" r:id="R320b6eddb2c54c06"/>
    <p:sldId xmlns:r="http://schemas.openxmlformats.org/officeDocument/2006/relationships" id="267" r:id="Re39a23d938c44bec"/>
  </p:sldIdLst>
  <p:sldSz cx="12191695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a1fcf87d290459f" /><Relationship Type="http://schemas.openxmlformats.org/officeDocument/2006/relationships/slideMaster" Target="/ppt/slideMasters/slideMaster1.xml" Id="Rf7d93e0160634a7c" /><Relationship Type="http://schemas.openxmlformats.org/officeDocument/2006/relationships/notesMaster" Target="/ppt/notesMasters/notesMaster1.xml" Id="R358ec620093644d6" /><Relationship Type="http://schemas.openxmlformats.org/officeDocument/2006/relationships/presProps" Target="/ppt/presProps.xml" Id="R0dd8ab086edd4c2b" /><Relationship Type="http://schemas.openxmlformats.org/officeDocument/2006/relationships/viewProps" Target="/ppt/viewProps.xml" Id="R3a1d81fa64d742da" /><Relationship Type="http://schemas.openxmlformats.org/officeDocument/2006/relationships/tableStyles" Target="/ppt/tableStyles.xml" Id="R639ea808f7204fc2" /><Relationship Type="http://schemas.openxmlformats.org/officeDocument/2006/relationships/slide" Target="/ppt/slides/slide1.xml" Id="R99e48aa270a44afa" /><Relationship Type="http://schemas.openxmlformats.org/officeDocument/2006/relationships/slide" Target="/ppt/slides/slide2.xml" Id="R59ecb282e6594dfb" /><Relationship Type="http://schemas.openxmlformats.org/officeDocument/2006/relationships/slide" Target="/ppt/slides/slide3.xml" Id="R526991beb26e41b6" /><Relationship Type="http://schemas.openxmlformats.org/officeDocument/2006/relationships/slide" Target="/ppt/slides/slide4.xml" Id="Ra9e9d88242f04feb" /><Relationship Type="http://schemas.openxmlformats.org/officeDocument/2006/relationships/slide" Target="/ppt/slides/slide5.xml" Id="R701815b2b6f94c43" /><Relationship Type="http://schemas.openxmlformats.org/officeDocument/2006/relationships/slide" Target="/ppt/slides/slide6.xml" Id="R07245453f8ab4aac" /><Relationship Type="http://schemas.openxmlformats.org/officeDocument/2006/relationships/slide" Target="/ppt/slides/slide7.xml" Id="R1be1346f0a3748d8" /><Relationship Type="http://schemas.openxmlformats.org/officeDocument/2006/relationships/slide" Target="/ppt/slides/slide8.xml" Id="R6781edc1ad5d4b90" /><Relationship Type="http://schemas.openxmlformats.org/officeDocument/2006/relationships/slide" Target="/ppt/slides/slide9.xml" Id="Rf9a58ab296b646ae" /><Relationship Type="http://schemas.openxmlformats.org/officeDocument/2006/relationships/slide" Target="/ppt/slides/slide10.xml" Id="Rfd403f791c0941f3" /><Relationship Type="http://schemas.openxmlformats.org/officeDocument/2006/relationships/slide" Target="/ppt/slides/slide11.xml" Id="R320b6eddb2c54c06" /><Relationship Type="http://schemas.openxmlformats.org/officeDocument/2006/relationships/slide" Target="/ppt/slides/slide12.xml" Id="Re39a23d938c44be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0567427e84241c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b718130a00b4052" /><Relationship Type="http://schemas.openxmlformats.org/officeDocument/2006/relationships/notesMaster" Target="/ppt/notesMasters/notesMaster1.xml" Id="R5a9c5c9c41e6428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e6a9372068b4ce9" /><Relationship Type="http://schemas.openxmlformats.org/officeDocument/2006/relationships/notesMaster" Target="/ppt/notesMasters/notesMaster1.xml" Id="Rcba9756e76d548a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03eb14141324f17" /><Relationship Type="http://schemas.openxmlformats.org/officeDocument/2006/relationships/notesMaster" Target="/ppt/notesMasters/notesMaster1.xml" Id="R511ce5fee7bb49f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f76d98479414af8" /><Relationship Type="http://schemas.openxmlformats.org/officeDocument/2006/relationships/notesMaster" Target="/ppt/notesMasters/notesMaster1.xml" Id="Rbc52566dc06a415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4b1a83958384653" /><Relationship Type="http://schemas.openxmlformats.org/officeDocument/2006/relationships/notesMaster" Target="/ppt/notesMasters/notesMaster1.xml" Id="Reea90d14efb4484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d39064d4a2a4795" /><Relationship Type="http://schemas.openxmlformats.org/officeDocument/2006/relationships/notesMaster" Target="/ppt/notesMasters/notesMaster1.xml" Id="R1fadea272ae44aa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54ec898331446b6" /><Relationship Type="http://schemas.openxmlformats.org/officeDocument/2006/relationships/notesMaster" Target="/ppt/notesMasters/notesMaster1.xml" Id="R308c36351b6c4dd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adfbd0450a14133" /><Relationship Type="http://schemas.openxmlformats.org/officeDocument/2006/relationships/notesMaster" Target="/ppt/notesMasters/notesMaster1.xml" Id="R1a8b6a1d46a24da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129d54ecc3c43e8" /><Relationship Type="http://schemas.openxmlformats.org/officeDocument/2006/relationships/notesMaster" Target="/ppt/notesMasters/notesMaster1.xml" Id="Rca1a8f9f777e472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f4b2795b40844ef" /><Relationship Type="http://schemas.openxmlformats.org/officeDocument/2006/relationships/notesMaster" Target="/ppt/notesMasters/notesMaster1.xml" Id="R7496df86a740402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bc2ddbf4c854468" /><Relationship Type="http://schemas.openxmlformats.org/officeDocument/2006/relationships/notesMaster" Target="/ppt/notesMasters/notesMaster1.xml" Id="R8c064b04577e48a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0b079c863b14b94" /><Relationship Type="http://schemas.openxmlformats.org/officeDocument/2006/relationships/notesMaster" Target="/ppt/notesMasters/notesMaster1.xml" Id="R3f5c8bb365f04fd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e56dc1e04d47ec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1eb77e220e74027" /><Relationship Type="http://schemas.openxmlformats.org/officeDocument/2006/relationships/slideLayout" Target="/ppt/slideLayouts/slideLayout1.xml" Id="Rd7539ceef6f1478b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7539ceef6f1478b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8c91b6ba174909" /><Relationship Type="http://schemas.openxmlformats.org/officeDocument/2006/relationships/notesSlide" Target="/ppt/notesSlides/notesSlide1.xml" Id="R1e335b719f504a5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6bdf5e5fd946bc" /><Relationship Type="http://schemas.openxmlformats.org/officeDocument/2006/relationships/notesSlide" Target="/ppt/notesSlides/notesSlide2.xml" Id="R1e685b2e004e442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0609da970543e4" /><Relationship Type="http://schemas.openxmlformats.org/officeDocument/2006/relationships/notesSlide" Target="/ppt/notesSlides/notesSlide3.xml" Id="R8474c248ac23493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ec16d72a0c4f9d" /><Relationship Type="http://schemas.openxmlformats.org/officeDocument/2006/relationships/image" Target="/ppt/media/image.png" Id="R4b8be71fca06468d" /><Relationship Type="http://schemas.openxmlformats.org/officeDocument/2006/relationships/image" Target="/ppt/media/image2.png" Id="R60ead5902a004739" /><Relationship Type="http://schemas.openxmlformats.org/officeDocument/2006/relationships/notesSlide" Target="/ppt/notesSlides/notesSlide4.xml" Id="R6fdae83bbba0400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75e0ad5b094f97" /><Relationship Type="http://schemas.openxmlformats.org/officeDocument/2006/relationships/image" Target="/ppt/media/image3.png" Id="R1c81b3e3b2aa4024" /><Relationship Type="http://schemas.openxmlformats.org/officeDocument/2006/relationships/image" Target="/ppt/media/image4.png" Id="R27cbb3c3a8894aed" /><Relationship Type="http://schemas.openxmlformats.org/officeDocument/2006/relationships/notesSlide" Target="/ppt/notesSlides/notesSlide5.xml" Id="Rb5b09e1fc708446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c952aadccf40ef" /><Relationship Type="http://schemas.openxmlformats.org/officeDocument/2006/relationships/image" Target="/ppt/media/image5.png" Id="R17f10ad0f26143bb" /><Relationship Type="http://schemas.openxmlformats.org/officeDocument/2006/relationships/image" Target="/ppt/media/image6.png" Id="R7b4d70b04a60491a" /><Relationship Type="http://schemas.openxmlformats.org/officeDocument/2006/relationships/notesSlide" Target="/ppt/notesSlides/notesSlide6.xml" Id="Rf3a69d0d18884de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7a03f894c041f2" /><Relationship Type="http://schemas.openxmlformats.org/officeDocument/2006/relationships/image" Target="/ppt/media/image7.png" Id="R98916f30e4c24c3b" /><Relationship Type="http://schemas.openxmlformats.org/officeDocument/2006/relationships/image" Target="/ppt/media/image8.png" Id="Rf622046de4414453" /><Relationship Type="http://schemas.openxmlformats.org/officeDocument/2006/relationships/notesSlide" Target="/ppt/notesSlides/notesSlide7.xml" Id="R563faf0ab32341c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48e6bfe8ad4d80" /><Relationship Type="http://schemas.openxmlformats.org/officeDocument/2006/relationships/notesSlide" Target="/ppt/notesSlides/notesSlide8.xml" Id="Rf983639eedac439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9e026e6ddc4333" /><Relationship Type="http://schemas.openxmlformats.org/officeDocument/2006/relationships/notesSlide" Target="/ppt/notesSlides/notesSlide9.xml" Id="Ra5bf5d6bde88429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0dd8f69a1a4c25" /><Relationship Type="http://schemas.openxmlformats.org/officeDocument/2006/relationships/notesSlide" Target="/ppt/notesSlides/notesSlide10.xml" Id="Rce286037d9c8408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fe42803da84031" /><Relationship Type="http://schemas.openxmlformats.org/officeDocument/2006/relationships/notesSlide" Target="/ppt/notesSlides/notesSlide11.xml" Id="Rd18cefa012f2484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aed80dc4b449b0" /><Relationship Type="http://schemas.openxmlformats.org/officeDocument/2006/relationships/notesSlide" Target="/ppt/notesSlides/notesSlide12.xml" Id="Rf8308d83dc3740b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6D359CE-C29C-4C70-A643-08F9B82E6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26"/>
          </a:solidFill>
          <a:ln xmlns:a="http://schemas.openxmlformats.org/drawingml/2006/main" w="12700">
            <a:solidFill>
              <a:srgbClr val="081426">
                <a:alpha val="0"/>
              </a:srgbClr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2CAE786-7327-4FFA-8CCF-9C9A5EB60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960120"/>
            <a:ext cx="39319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4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Sanjiv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D4D0F91-3ACF-4A81-A42A-34ED9A842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1572768"/>
            <a:ext cx="65836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>
                <a:solidFill>
                  <a:srgbClr val="D7E8FF"/>
                </a:solidFill>
              </a:rPr>
              <a:t>India's Energy Resilience Command Center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B26C141-3C33-4574-8B84-25BCE8EBC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2121408"/>
            <a:ext cx="5029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00C2FF"/>
                </a:solidFill>
              </a:rPr>
              <a:t>Keep India's energy moving.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5FED1B2A-0BCB-4071-AEDD-62FE11C76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2542032"/>
            <a:ext cx="30175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C2FF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D3EB6EC-EA89-46D7-B425-D3BD1F30D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66360"/>
            <a:ext cx="74980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EAF3FF"/>
                </a:solidFill>
              </a:rPr>
              <a:t>Observe  &gt;  Detect  &gt;  Simulate  &gt;  Optimise  &gt;  Approve  &gt;  Monitor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1FA0BAF-5A89-4B16-873D-34BE5560C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89320"/>
            <a:ext cx="58521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C8D9EF"/>
                </a:solidFill>
              </a:rPr>
              <a:t>Current UI | 212 tests | 8 verified product screens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76013953-568F-4A2D-8789-AC27FE826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5120640"/>
            <a:ext cx="1325880" cy="347472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4A44D"/>
          </a:solidFill>
          <a:ln xmlns:a="http://schemas.openxmlformats.org/drawingml/2006/main" w="12700">
            <a:solidFill>
              <a:srgbClr val="14A44D">
                <a:alpha val="0"/>
              </a:srgbClr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E1D763C2-F458-40AD-9361-C807ED696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5216652"/>
            <a:ext cx="1234440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Working prototype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8A78EBB-73EB-440D-B3AF-9535C5426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5120640"/>
            <a:ext cx="1417320" cy="347472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F62FE"/>
          </a:solidFill>
          <a:ln xmlns:a="http://schemas.openxmlformats.org/drawingml/2006/main" w="12700">
            <a:solidFill>
              <a:srgbClr val="0F62FE">
                <a:alpha val="0"/>
              </a:srgbClr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23450A8-48A6-46F5-AFA3-448FD754C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216652"/>
            <a:ext cx="1325880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Evidence-backed</a:t>
            </a:r>
          </a:p>
        </p:txBody>
      </p:sp>
    </p:spTree>
    <p:extLst>
      <p:ext uri="{BB962C8B-B14F-4D97-AF65-F5344CB8AC3E}">
        <p14:creationId xmlns:p14="http://schemas.microsoft.com/office/powerpoint/2010/main" val="39427770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5436ABD-9AC4-4C74-B320-80E169110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26"/>
          </a:solidFill>
          <a:ln xmlns:a="http://schemas.openxmlformats.org/drawingml/2006/main" w="12700">
            <a:solidFill>
              <a:srgbClr val="081426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5F6921A-7001-411C-8375-6468AC17E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2552"/>
            <a:ext cx="12191695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26"/>
          </a:solidFill>
          <a:ln xmlns:a="http://schemas.openxmlformats.org/drawingml/2006/main" w="12700">
            <a:solidFill>
              <a:srgbClr val="081426">
                <a:alpha val="0"/>
              </a:srgbClr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552CF0C7-11D6-4F31-8700-C02F73EF8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80467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081426"/>
                </a:solidFill>
                <a:latin typeface="Aptos Display"/>
                <a:ea typeface="Aptos Display"/>
                <a:cs typeface="Aptos Display"/>
              </a:rPr>
              <a:t>The crisis is not lack of data. It is lack of decision intelligence.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F3831B05-1BC8-49EA-A6E5-6B1C76E37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" y="768096"/>
            <a:ext cx="9601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D6B82"/>
                </a:solidFill>
              </a:rPr>
              <a:t>India must connect fragmented maritime, geopolitical, refinery, procurement and reserve signals fast enough to act.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0B79F5E-0C5F-422B-BE8D-59DD8D163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417320"/>
            <a:ext cx="2103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81426"/>
                </a:solidFill>
              </a:rPr>
              <a:t>The risk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4E50D590-1F2F-4E69-825F-26B09CDFD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828800"/>
            <a:ext cx="5120640" cy="11521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152033"/>
                </a:solidFill>
              </a:rPr>
              <a:t>A disruption starts at a corridor, but the consequence lands at refineries, prices, inventories and procurement desks.</a:t>
            </a:r>
          </a:p>
          <a:p xmlns:a="http://schemas.openxmlformats.org/drawingml/2006/main">
            <a:r>
              <a:rPr sz="1300">
                <a:solidFill>
                  <a:srgbClr val="152033"/>
                </a:solidFill>
              </a:rPr>
              <a:t>Traditional dashboards show signals; they do not produce defensible response options.</a:t>
            </a:r>
          </a:p>
          <a:p xmlns:a="http://schemas.openxmlformats.org/drawingml/2006/main">
            <a:r>
              <a:rPr sz="1300">
                <a:solidFill>
                  <a:srgbClr val="152033"/>
                </a:solidFill>
              </a:rPr>
              <a:t>Under uncertainty, unsupported claims are as dangerous as missing data.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19590521-649F-4239-BE6D-17EFB8DF9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1417320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81426"/>
                </a:solidFill>
              </a:rPr>
              <a:t>Sanjiv’s answer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5C605FE5-996E-4F15-963D-E9AEEC8AF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1828800"/>
            <a:ext cx="4480560" cy="1536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152033"/>
                </a:solidFill>
              </a:rPr>
              <a:t>Model the no-action consequence.</a:t>
            </a:r>
          </a:p>
          <a:p xmlns:a="http://schemas.openxmlformats.org/drawingml/2006/main">
            <a:r>
              <a:rPr sz="1300">
                <a:solidFill>
                  <a:srgbClr val="152033"/>
                </a:solidFill>
              </a:rPr>
              <a:t>Optimise checked procurement alternatives.</a:t>
            </a:r>
          </a:p>
          <a:p xmlns:a="http://schemas.openxmlformats.org/drawingml/2006/main">
            <a:r>
              <a:rPr sz="1300">
                <a:solidFill>
                  <a:srgbClr val="152033"/>
                </a:solidFill>
              </a:rPr>
              <a:t>Coordinate strategic reserve policy.</a:t>
            </a:r>
          </a:p>
          <a:p xmlns:a="http://schemas.openxmlformats.org/drawingml/2006/main">
            <a:r>
              <a:rPr sz="1300">
                <a:solidFill>
                  <a:srgbClr val="152033"/>
                </a:solidFill>
              </a:rPr>
              <a:t>Make every KPI auditable before approval.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91584E7B-B1A5-4E1A-BA6D-01E27687F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892040"/>
            <a:ext cx="155448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7B0CFF7-7BED-4AC7-AFCB-B80995ED4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047488"/>
            <a:ext cx="14630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0F62FE"/>
                </a:solidFill>
              </a:rPr>
              <a:t>6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E76B7A06-96E9-4796-88D7-C4155C1FF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22392"/>
            <a:ext cx="1371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>
                <a:solidFill>
                  <a:srgbClr val="5D6B82"/>
                </a:solidFill>
              </a:rPr>
              <a:t>decision stages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BFA4726B-D6BF-4675-A0F2-E4C625313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4892040"/>
            <a:ext cx="155448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C915E4FB-600F-4EB9-855A-A2ECCE63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360" y="5047488"/>
            <a:ext cx="14630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5E35B1"/>
                </a:solidFill>
              </a:rPr>
              <a:t>3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EBA7FEAA-44C2-4DFA-9573-3202F886D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5422392"/>
            <a:ext cx="1371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>
                <a:solidFill>
                  <a:srgbClr val="5D6B82"/>
                </a:solidFill>
              </a:rPr>
              <a:t>procurement profiles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570D398C-6FC7-47C8-B5E2-30544DD1D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4892040"/>
            <a:ext cx="155448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99E36BF4-7929-44C1-A327-F58451F4A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5047488"/>
            <a:ext cx="14630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B020"/>
                </a:solidFill>
              </a:rPr>
              <a:t>4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F7A8A7B0-C1C4-4E9B-B0FF-0DF015940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5422392"/>
            <a:ext cx="1371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>
                <a:solidFill>
                  <a:srgbClr val="5D6B82"/>
                </a:solidFill>
              </a:rPr>
              <a:t>reserve policies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2E0DC1EB-7804-4BE7-8F6C-0A2568B61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892040"/>
            <a:ext cx="155448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58A2BAE1-9F38-4F9C-8441-3D27ACA2B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5047488"/>
            <a:ext cx="14630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00A88F"/>
                </a:solidFill>
              </a:rPr>
              <a:t>100%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8073FDB7-3E3D-48BA-ADE0-7F72DE67F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5422392"/>
            <a:ext cx="1371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>
                <a:solidFill>
                  <a:srgbClr val="5D6B82"/>
                </a:solidFill>
              </a:rPr>
              <a:t>provenance target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B82E2C86-5298-4280-9F3A-A6276666A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4892040"/>
            <a:ext cx="155448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EFEAD2A1-D12B-4D00-8AB2-34BEF07D0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5047488"/>
            <a:ext cx="14630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D64545"/>
                </a:solidFill>
              </a:rPr>
              <a:t>0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570980F0-7C05-41D7-B7CE-419431878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5422392"/>
            <a:ext cx="1371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>
                <a:solidFill>
                  <a:srgbClr val="5D6B82"/>
                </a:solidFill>
              </a:rPr>
              <a:t>autonomous orders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C0162C5C-B9A7-40AC-BFC0-DBA37F132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00">
                <a:solidFill>
                  <a:srgbClr val="5D6B82"/>
                </a:solidFill>
              </a:rPr>
              <a:t>Sanjiv | ET AI Hackathon 2026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80C7B70D-62B3-4522-BA3F-C1A04A32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473952"/>
            <a:ext cx="11430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00">
                <a:solidFill>
                  <a:srgbClr val="5D6B82"/>
                </a:solidFill>
              </a:rPr>
              <a:t>2/12</a:t>
            </a:r>
          </a:p>
        </p:txBody>
      </p:sp>
    </p:spTree>
    <p:extLst>
      <p:ext uri="{BB962C8B-B14F-4D97-AF65-F5344CB8AC3E}">
        <p14:creationId xmlns:p14="http://schemas.microsoft.com/office/powerpoint/2010/main" val="187544195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77DA6C5-EB74-4138-889A-277E2519A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26"/>
          </a:solidFill>
          <a:ln xmlns:a="http://schemas.openxmlformats.org/drawingml/2006/main" w="12700">
            <a:solidFill>
              <a:srgbClr val="081426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E395D1C-6612-4E57-B085-73225F92D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2552"/>
            <a:ext cx="12191695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26"/>
          </a:solidFill>
          <a:ln xmlns:a="http://schemas.openxmlformats.org/drawingml/2006/main" w="12700">
            <a:solidFill>
              <a:srgbClr val="081426">
                <a:alpha val="0"/>
              </a:srgbClr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568BE2F-303F-4EBE-80F1-7EDA491DA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80467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081426"/>
                </a:solidFill>
                <a:latin typeface="Aptos Display"/>
                <a:ea typeface="Aptos Display"/>
                <a:cs typeface="Aptos Display"/>
              </a:rPr>
              <a:t>One workflow from signal to human decision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FBC15757-DC3F-452F-BE66-1881C416C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" y="768096"/>
            <a:ext cx="9601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D6B82"/>
                </a:solidFill>
              </a:rPr>
              <a:t>The same scenario powers risk, simulation, optimisation, evidence and approval.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634DB555-3346-4D34-9459-0A70FB272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371600"/>
            <a:ext cx="1417320" cy="530352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F62FE"/>
          </a:solidFill>
          <a:ln xmlns:a="http://schemas.openxmlformats.org/drawingml/2006/main" w="12700">
            <a:solidFill>
              <a:srgbClr val="0F62FE">
                <a:alpha val="0"/>
              </a:srgbClr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C07F83E1-3450-44F5-907F-62800A7AB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" y="1527048"/>
            <a:ext cx="1344168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Observe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93D2DCF-F081-4735-A2FD-D7821B9BE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636776"/>
            <a:ext cx="3474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5D6B82"/>
            </a:solidFill>
            <a:prstDash val="solid"/>
            <a:headEnd type="none"/>
            <a:tailEnd type="triangle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15CD38A0-D713-4E10-9781-D6E56C79D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8880" y="1371600"/>
            <a:ext cx="1417320" cy="530352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E88E5"/>
          </a:solidFill>
          <a:ln xmlns:a="http://schemas.openxmlformats.org/drawingml/2006/main" w="12700">
            <a:solidFill>
              <a:srgbClr val="1E88E5">
                <a:alpha val="0"/>
              </a:srgbClr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20F9CF44-BABD-4C5C-A7C7-6FC180B6B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456" y="1527048"/>
            <a:ext cx="1344168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Detect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8B8E5AA0-0E5F-4B84-A768-41C8D02D5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636776"/>
            <a:ext cx="3474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5D6B82"/>
            </a:solidFill>
            <a:prstDash val="solid"/>
            <a:headEnd type="none"/>
            <a:tailEnd type="triangle"/>
          </a:ln>
        </p:spPr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5B2F0360-DA43-4380-AA23-E5FA2B23A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371600"/>
            <a:ext cx="1417320" cy="530352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0A88F"/>
          </a:solidFill>
          <a:ln xmlns:a="http://schemas.openxmlformats.org/drawingml/2006/main" w="12700">
            <a:solidFill>
              <a:srgbClr val="00A88F">
                <a:alpha val="0"/>
              </a:srgbClr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A11FE34E-D43A-4F20-8F48-534FB2D44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1527048"/>
            <a:ext cx="1344168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Simulate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54FBD0EC-47C1-454A-B6F3-0F5A28EC3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1636776"/>
            <a:ext cx="3474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5D6B82"/>
            </a:solidFill>
            <a:prstDash val="solid"/>
            <a:headEnd type="none"/>
            <a:tailEnd type="triangle"/>
          </a:ln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E58CED45-BCD5-4FD8-BAD4-73981BE50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371600"/>
            <a:ext cx="1417320" cy="530352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5E35B1"/>
          </a:solidFill>
          <a:ln xmlns:a="http://schemas.openxmlformats.org/drawingml/2006/main" w="12700">
            <a:solidFill>
              <a:srgbClr val="5E35B1">
                <a:alpha val="0"/>
              </a:srgbClr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1B8939FA-D390-4BB1-A913-27F6B5ADA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4496" y="1527048"/>
            <a:ext cx="1344168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Optimise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15976FF1-BF67-4806-BCB6-C4063F001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1636776"/>
            <a:ext cx="3474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5D6B82"/>
            </a:solidFill>
            <a:prstDash val="solid"/>
            <a:headEnd type="none"/>
            <a:tailEnd type="triangle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5739D527-C649-4C59-B56F-ED7226A40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1371600"/>
            <a:ext cx="1417320" cy="530352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67E22"/>
          </a:solidFill>
          <a:ln xmlns:a="http://schemas.openxmlformats.org/drawingml/2006/main" w="12700">
            <a:solidFill>
              <a:srgbClr val="E67E22">
                <a:alpha val="0"/>
              </a:srgbClr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36456A86-4077-4473-A870-937C488FD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9016" y="1527048"/>
            <a:ext cx="1344168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Approve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19E7DAF3-F379-4783-AF6D-F536867BB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0" y="1636776"/>
            <a:ext cx="3474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5D6B82"/>
            </a:solidFill>
            <a:prstDash val="solid"/>
            <a:headEnd type="none"/>
            <a:tailEnd type="triangle"/>
          </a:ln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780D8464-06DF-4905-B987-75AEF62E9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6960" y="1371600"/>
            <a:ext cx="1417320" cy="530352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4A44D"/>
          </a:solidFill>
          <a:ln xmlns:a="http://schemas.openxmlformats.org/drawingml/2006/main" w="12700">
            <a:solidFill>
              <a:srgbClr val="14A44D">
                <a:alpha val="0"/>
              </a:srgbClr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AF15EC5-0548-446A-BBC0-945585558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3536" y="1527048"/>
            <a:ext cx="1344168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Monitor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AC19CD3D-3786-4108-8D9E-2A464AE90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423160"/>
            <a:ext cx="26974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152033"/>
                </a:solidFill>
              </a:rPr>
              <a:t>A live or replayed threat appears - or the user types a scenario.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64F3CE69-1F25-440A-9919-77E9C8EC5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423160"/>
            <a:ext cx="26974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152033"/>
                </a:solidFill>
              </a:rPr>
              <a:t>The twin estimates which flows and assets are exposed.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6012EB00-2DE4-44DC-946A-7A3592724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2423160"/>
            <a:ext cx="3383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152033"/>
                </a:solidFill>
              </a:rPr>
              <a:t>Sanjiv compares no action, procurement and reserve response.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A0941C93-689C-40CF-A2D7-4FA83DBDA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160520"/>
            <a:ext cx="96012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081426"/>
                </a:solidFill>
              </a:rPr>
              <a:t>Human approval is blocked unless evidence, assumptions, solver and checker results all pass.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BD82DC2A-2B76-49C8-B358-446F9E13D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892040"/>
            <a:ext cx="8138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5D6B82"/>
                </a:solidFill>
              </a:rPr>
              <a:t>This is decision intelligence, not an autonomous trading or reserve-release system.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A5F71364-2DC9-42F2-9816-E65972376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00">
                <a:solidFill>
                  <a:srgbClr val="5D6B82"/>
                </a:solidFill>
              </a:rPr>
              <a:t>Sanjiv | ET AI Hackathon 2026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29794484-4AB8-4BBB-911C-67D110FBE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473952"/>
            <a:ext cx="11430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00">
                <a:solidFill>
                  <a:srgbClr val="5D6B82"/>
                </a:solidFill>
              </a:rPr>
              <a:t>3/12</a:t>
            </a:r>
          </a:p>
        </p:txBody>
      </p:sp>
    </p:spTree>
    <p:extLst>
      <p:ext uri="{BB962C8B-B14F-4D97-AF65-F5344CB8AC3E}">
        <p14:creationId xmlns:p14="http://schemas.microsoft.com/office/powerpoint/2010/main" val="185196983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0FB7BE19-945C-4230-BBF0-5C3CB6F07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26"/>
          </a:solidFill>
          <a:ln xmlns:a="http://schemas.openxmlformats.org/drawingml/2006/main" w="12700">
            <a:solidFill>
              <a:srgbClr val="081426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ED40632-2FD5-41AD-95C3-83BD1C93B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2552"/>
            <a:ext cx="12191695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26"/>
          </a:solidFill>
          <a:ln xmlns:a="http://schemas.openxmlformats.org/drawingml/2006/main" w="12700">
            <a:solidFill>
              <a:srgbClr val="081426">
                <a:alpha val="0"/>
              </a:srgbClr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10CABBA-2E8A-4ABD-A862-EF5D553AD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80467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081426"/>
                </a:solidFill>
                <a:latin typeface="Aptos Display"/>
                <a:ea typeface="Aptos Display"/>
                <a:cs typeface="Aptos Display"/>
              </a:rPr>
              <a:t>Observed data and replay remain visibly separate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5547F62-A468-4433-9BA6-D7E166401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" y="768096"/>
            <a:ext cx="9601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D6B82"/>
                </a:solidFill>
              </a:rPr>
              <a:t>A current public observation can strengthen the demo without becoming a false live-AIS or disruption claim.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39F8B5F-7807-4C53-8CF3-52359408C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5257800" cy="4343400"/>
          </a:xfrm>
          <a:prstGeom xmlns:a="http://schemas.openxmlformats.org/drawingml/2006/main" prst="roundRect">
            <a:avLst>
              <a:gd name="adj" fmla="val 1684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C743C2B-2E01-4E94-B841-8EFCB5492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664208"/>
            <a:ext cx="29260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81426"/>
                </a:solidFill>
              </a:rPr>
              <a:t>Command Center - observed signal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4C9E9299-E699-47EA-8AFA-D2F956983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857750"/>
            <a:ext cx="4389120" cy="590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152033"/>
                </a:solidFill>
              </a:rPr>
              <a:t>IMF PortWatch: 4 tanker transits, 15 total transits and 39,216 t estimated tanker tonnage for 19 Jul 2026. OBSERVED / CURRENT.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230F6209-02BC-49FA-8366-33022CC19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17320"/>
            <a:ext cx="5257800" cy="4343400"/>
          </a:xfrm>
          <a:prstGeom xmlns:a="http://schemas.openxmlformats.org/drawingml/2006/main" prst="roundRect">
            <a:avLst>
              <a:gd name="adj" fmla="val 1684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E34D9D71-F3C0-4053-B966-649AFC34A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664208"/>
            <a:ext cx="29260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81426"/>
                </a:solidFill>
              </a:rPr>
              <a:t>Risk - observed card + fixture model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07F6C56-1599-4FE2-ABF1-4E40B270E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857750"/>
            <a:ext cx="4389120" cy="590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152033"/>
                </a:solidFill>
              </a:rPr>
              <a:t>The observed card sits above the structural ranking. Severity remains fixture-based and is not disruption probability.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A2C34754-AD1D-4C36-8530-2959BD051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00">
                <a:solidFill>
                  <a:srgbClr val="5D6B82"/>
                </a:solidFill>
              </a:rPr>
              <a:t>Sanjiv | ET AI Hackathon 2026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5614CAB5-96E7-471D-9B36-465E462B7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473952"/>
            <a:ext cx="11430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00">
                <a:solidFill>
                  <a:srgbClr val="5D6B82"/>
                </a:solidFill>
              </a:rPr>
              <a:t>4/12</a:t>
            </a:r>
          </a:p>
        </p:txBody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8be71fca06468d"/>
          <a:stretch xmlns:a="http://schemas.openxmlformats.org/drawingml/2006/main"/>
        </p:blipFill>
        <p:spPr>
          <a:xfrm xmlns:a="http://schemas.openxmlformats.org/drawingml/2006/main">
            <a:off x="868680" y="2002631"/>
            <a:ext cx="4800600" cy="2700338"/>
          </a:xfrm>
          <a:prstGeom xmlns:a="http://schemas.openxmlformats.org/drawingml/2006/main" prst="roundRect">
            <a:avLst>
              <a:gd name="adj" fmla="val 2817"/>
            </a:avLst>
          </a:prstGeom>
        </p:spPr>
      </p:pic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ead5902a004739"/>
          <a:stretch xmlns:a="http://schemas.openxmlformats.org/drawingml/2006/main"/>
        </p:blipFill>
        <p:spPr>
          <a:xfrm xmlns:a="http://schemas.openxmlformats.org/drawingml/2006/main">
            <a:off x="6537960" y="2002631"/>
            <a:ext cx="4800600" cy="2700338"/>
          </a:xfrm>
          <a:prstGeom xmlns:a="http://schemas.openxmlformats.org/drawingml/2006/main" prst="roundRect">
            <a:avLst>
              <a:gd name="adj" fmla="val 2817"/>
            </a:avLst>
          </a:prstGeom>
        </p:spPr>
      </p:pic>
    </p:spTree>
    <p:extLst>
      <p:ext uri="{BB962C8B-B14F-4D97-AF65-F5344CB8AC3E}">
        <p14:creationId xmlns:p14="http://schemas.microsoft.com/office/powerpoint/2010/main" val="122576065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0FB7BE19-945C-4230-BBF0-5C3CB6F07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26"/>
          </a:solidFill>
          <a:ln xmlns:a="http://schemas.openxmlformats.org/drawingml/2006/main" w="12700">
            <a:solidFill>
              <a:srgbClr val="081426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ED40632-2FD5-41AD-95C3-83BD1C93B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2552"/>
            <a:ext cx="12191695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26"/>
          </a:solidFill>
          <a:ln xmlns:a="http://schemas.openxmlformats.org/drawingml/2006/main" w="12700">
            <a:solidFill>
              <a:srgbClr val="081426">
                <a:alpha val="0"/>
              </a:srgbClr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10CABBA-2E8A-4ABD-A862-EF5D553AD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80467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081426"/>
                </a:solidFill>
                <a:latin typeface="Aptos Display"/>
                <a:ea typeface="Aptos Display"/>
                <a:cs typeface="Aptos Display"/>
              </a:rPr>
              <a:t>Freeze the network state before asking the model to reason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5547F62-A468-4433-9BA6-D7E166401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" y="768096"/>
            <a:ext cx="9601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D6B82"/>
                </a:solidFill>
              </a:rPr>
              <a:t>One frozen twin and scenario fingerprint carry into simulation, optimisation and audit.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39F8B5F-7807-4C53-8CF3-52359408C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5257800" cy="4343400"/>
          </a:xfrm>
          <a:prstGeom xmlns:a="http://schemas.openxmlformats.org/drawingml/2006/main" prst="roundRect">
            <a:avLst>
              <a:gd name="adj" fmla="val 1684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C743C2B-2E01-4E94-B841-8EFCB5492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664208"/>
            <a:ext cx="29260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81426"/>
                </a:solidFill>
              </a:rPr>
              <a:t>Digital Twin - conserved reference state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4C9E9299-E699-47EA-8AFA-D2F956983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857750"/>
            <a:ext cx="4389120" cy="590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152033"/>
                </a:solidFill>
              </a:rPr>
              <a:t>The reference twin is explicitly assumption-driven; mass balance must reconcile before a snapshot is usable.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230F6209-02BC-49FA-8366-33022CC19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17320"/>
            <a:ext cx="5257800" cy="4343400"/>
          </a:xfrm>
          <a:prstGeom xmlns:a="http://schemas.openxmlformats.org/drawingml/2006/main" prst="roundRect">
            <a:avLst>
              <a:gd name="adj" fmla="val 1684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E34D9D71-F3C0-4053-B966-649AFC34A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664208"/>
            <a:ext cx="29260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81426"/>
                </a:solidFill>
              </a:rPr>
              <a:t>Scenario Lab - compile, confirm, simulate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07F6C56-1599-4FE2-ABF1-4E40B270E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857750"/>
            <a:ext cx="4389120" cy="590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152033"/>
                </a:solidFill>
              </a:rPr>
              <a:t>A user confirms the parsed disruption before freeze. The no-action run is bounded sensitivity, not a probability forecast.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A2C34754-AD1D-4C36-8530-2959BD051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00">
                <a:solidFill>
                  <a:srgbClr val="5D6B82"/>
                </a:solidFill>
              </a:rPr>
              <a:t>Sanjiv | ET AI Hackathon 2026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5614CAB5-96E7-471D-9B36-465E462B7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473952"/>
            <a:ext cx="11430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00">
                <a:solidFill>
                  <a:srgbClr val="5D6B82"/>
                </a:solidFill>
              </a:rPr>
              <a:t>5/12</a:t>
            </a:r>
          </a:p>
        </p:txBody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81b3e3b2aa4024"/>
          <a:stretch xmlns:a="http://schemas.openxmlformats.org/drawingml/2006/main"/>
        </p:blipFill>
        <p:spPr>
          <a:xfrm xmlns:a="http://schemas.openxmlformats.org/drawingml/2006/main">
            <a:off x="868680" y="2002631"/>
            <a:ext cx="4800600" cy="2700338"/>
          </a:xfrm>
          <a:prstGeom xmlns:a="http://schemas.openxmlformats.org/drawingml/2006/main" prst="roundRect">
            <a:avLst>
              <a:gd name="adj" fmla="val 2817"/>
            </a:avLst>
          </a:prstGeom>
        </p:spPr>
      </p:pic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cbb3c3a8894aed"/>
          <a:stretch xmlns:a="http://schemas.openxmlformats.org/drawingml/2006/main"/>
        </p:blipFill>
        <p:spPr>
          <a:xfrm xmlns:a="http://schemas.openxmlformats.org/drawingml/2006/main">
            <a:off x="6537960" y="2002631"/>
            <a:ext cx="4800600" cy="2700338"/>
          </a:xfrm>
          <a:prstGeom xmlns:a="http://schemas.openxmlformats.org/drawingml/2006/main" prst="roundRect">
            <a:avLst>
              <a:gd name="adj" fmla="val 2817"/>
            </a:avLst>
          </a:prstGeom>
        </p:spPr>
      </p:pic>
    </p:spTree>
    <p:extLst>
      <p:ext uri="{BB962C8B-B14F-4D97-AF65-F5344CB8AC3E}">
        <p14:creationId xmlns:p14="http://schemas.microsoft.com/office/powerpoint/2010/main" val="122576065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0FB7BE19-945C-4230-BBF0-5C3CB6F07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26"/>
          </a:solidFill>
          <a:ln xmlns:a="http://schemas.openxmlformats.org/drawingml/2006/main" w="12700">
            <a:solidFill>
              <a:srgbClr val="081426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ED40632-2FD5-41AD-95C3-83BD1C93B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2552"/>
            <a:ext cx="12191695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26"/>
          </a:solidFill>
          <a:ln xmlns:a="http://schemas.openxmlformats.org/drawingml/2006/main" w="12700">
            <a:solidFill>
              <a:srgbClr val="081426">
                <a:alpha val="0"/>
              </a:srgbClr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10CABBA-2E8A-4ABD-A862-EF5D553AD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80467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081426"/>
                </a:solidFill>
                <a:latin typeface="Aptos Display"/>
                <a:ea typeface="Aptos Display"/>
                <a:cs typeface="Aptos Display"/>
              </a:rPr>
              <a:t>Checked choices beat one magic answer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5547F62-A468-4433-9BA6-D7E166401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" y="768096"/>
            <a:ext cx="9601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D6B82"/>
                </a:solidFill>
              </a:rPr>
              <a:t>Every candidate exposes the trade-off it makes; independent checkers must pass before the plan can move forward.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39F8B5F-7807-4C53-8CF3-52359408C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5257800" cy="4343400"/>
          </a:xfrm>
          <a:prstGeom xmlns:a="http://schemas.openxmlformats.org/drawingml/2006/main" prst="roundRect">
            <a:avLst>
              <a:gd name="adj" fmla="val 1684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C743C2B-2E01-4E94-B841-8EFCB5492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664208"/>
            <a:ext cx="29260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81426"/>
                </a:solidFill>
              </a:rPr>
              <a:t>Response Planner - 3 profiles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4C9E9299-E699-47EA-8AFA-D2F956983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857750"/>
            <a:ext cx="4389120" cy="590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152033"/>
                </a:solidFill>
              </a:rPr>
              <a:t>Lowest cost, balanced and highest resilience share hard constraints and expose modeled allocations, provenance and assumptions.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230F6209-02BC-49FA-8366-33022CC19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17320"/>
            <a:ext cx="5257800" cy="4343400"/>
          </a:xfrm>
          <a:prstGeom xmlns:a="http://schemas.openxmlformats.org/drawingml/2006/main" prst="roundRect">
            <a:avLst>
              <a:gd name="adj" fmla="val 1684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E34D9D71-F3C0-4053-B966-649AFC34A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664208"/>
            <a:ext cx="29260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81426"/>
                </a:solidFill>
              </a:rPr>
              <a:t>Strategic Reserve - 4 policies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07F6C56-1599-4FE2-ABF1-4E40B270E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857750"/>
            <a:ext cx="4389120" cy="590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152033"/>
                </a:solidFill>
              </a:rPr>
              <a:t>Public capacity is not current fill. Opening inventory remains an explicit assumption until an operator supplies verified data.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A2C34754-AD1D-4C36-8530-2959BD051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00">
                <a:solidFill>
                  <a:srgbClr val="5D6B82"/>
                </a:solidFill>
              </a:rPr>
              <a:t>Sanjiv | ET AI Hackathon 2026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5614CAB5-96E7-471D-9B36-465E462B7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473952"/>
            <a:ext cx="11430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00">
                <a:solidFill>
                  <a:srgbClr val="5D6B82"/>
                </a:solidFill>
              </a:rPr>
              <a:t>6/12</a:t>
            </a:r>
          </a:p>
        </p:txBody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f10ad0f26143bb"/>
          <a:stretch xmlns:a="http://schemas.openxmlformats.org/drawingml/2006/main"/>
        </p:blipFill>
        <p:spPr>
          <a:xfrm xmlns:a="http://schemas.openxmlformats.org/drawingml/2006/main">
            <a:off x="868680" y="2002631"/>
            <a:ext cx="4800600" cy="2700338"/>
          </a:xfrm>
          <a:prstGeom xmlns:a="http://schemas.openxmlformats.org/drawingml/2006/main" prst="roundRect">
            <a:avLst>
              <a:gd name="adj" fmla="val 2817"/>
            </a:avLst>
          </a:prstGeom>
        </p:spPr>
      </p:pic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4d70b04a60491a"/>
          <a:stretch xmlns:a="http://schemas.openxmlformats.org/drawingml/2006/main"/>
        </p:blipFill>
        <p:spPr>
          <a:xfrm xmlns:a="http://schemas.openxmlformats.org/drawingml/2006/main">
            <a:off x="6537960" y="2002631"/>
            <a:ext cx="4800600" cy="2700338"/>
          </a:xfrm>
          <a:prstGeom xmlns:a="http://schemas.openxmlformats.org/drawingml/2006/main" prst="roundRect">
            <a:avLst>
              <a:gd name="adj" fmla="val 2817"/>
            </a:avLst>
          </a:prstGeom>
        </p:spPr>
      </p:pic>
    </p:spTree>
    <p:extLst>
      <p:ext uri="{BB962C8B-B14F-4D97-AF65-F5344CB8AC3E}">
        <p14:creationId xmlns:p14="http://schemas.microsoft.com/office/powerpoint/2010/main" val="122576065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0FB7BE19-945C-4230-BBF0-5C3CB6F07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26"/>
          </a:solidFill>
          <a:ln xmlns:a="http://schemas.openxmlformats.org/drawingml/2006/main" w="12700">
            <a:solidFill>
              <a:srgbClr val="081426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ED40632-2FD5-41AD-95C3-83BD1C93B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2552"/>
            <a:ext cx="12191695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26"/>
          </a:solidFill>
          <a:ln xmlns:a="http://schemas.openxmlformats.org/drawingml/2006/main" w="12700">
            <a:solidFill>
              <a:srgbClr val="081426">
                <a:alpha val="0"/>
              </a:srgbClr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10CABBA-2E8A-4ABD-A862-EF5D553AD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80467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081426"/>
                </a:solidFill>
                <a:latin typeface="Aptos Display"/>
                <a:ea typeface="Aptos Display"/>
                <a:cs typeface="Aptos Display"/>
              </a:rPr>
              <a:t>Trust requires evidence and a human signature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5547F62-A468-4433-9BA6-D7E166401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" y="768096"/>
            <a:ext cx="9601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D6B82"/>
                </a:solidFill>
              </a:rPr>
              <a:t>The interface preserves the full path from plan fingerprint to approval, replay, sensitivity and monitored export.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39F8B5F-7807-4C53-8CF3-52359408C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5257800" cy="4343400"/>
          </a:xfrm>
          <a:prstGeom xmlns:a="http://schemas.openxmlformats.org/drawingml/2006/main" prst="roundRect">
            <a:avLst>
              <a:gd name="adj" fmla="val 1684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C743C2B-2E01-4E94-B841-8EFCB5492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664208"/>
            <a:ext cx="29260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81426"/>
                </a:solidFill>
              </a:rPr>
              <a:t>Evidence &amp; Approval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4C9E9299-E699-47EA-8AFA-D2F956983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857750"/>
            <a:ext cx="4389120" cy="590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152033"/>
                </a:solidFill>
              </a:rPr>
              <a:t>The audit reports PASSED with 100.0% coverage and RECOMPUTE_RECONCILED. Approval records actor, role, comment and UTC time.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230F6209-02BC-49FA-8366-33022CC19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17320"/>
            <a:ext cx="5257800" cy="4343400"/>
          </a:xfrm>
          <a:prstGeom xmlns:a="http://schemas.openxmlformats.org/drawingml/2006/main" prst="roundRect">
            <a:avLst>
              <a:gd name="adj" fmla="val 1684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E34D9D71-F3C0-4053-B966-649AFC34A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664208"/>
            <a:ext cx="29260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81426"/>
                </a:solidFill>
              </a:rPr>
              <a:t>Replay, sensitivity &amp; export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07F6C56-1599-4FE2-ABF1-4E40B270E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857750"/>
            <a:ext cx="4389120" cy="590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152033"/>
                </a:solidFill>
              </a:rPr>
              <a:t>Twenty-one versioned synthetic cases keep regression evidence repeatable. Outputs remain audited decisions, not execution.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A2C34754-AD1D-4C36-8530-2959BD051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00">
                <a:solidFill>
                  <a:srgbClr val="5D6B82"/>
                </a:solidFill>
              </a:rPr>
              <a:t>Sanjiv | ET AI Hackathon 2026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5614CAB5-96E7-471D-9B36-465E462B7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473952"/>
            <a:ext cx="11430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00">
                <a:solidFill>
                  <a:srgbClr val="5D6B82"/>
                </a:solidFill>
              </a:rPr>
              <a:t>7/12</a:t>
            </a:r>
          </a:p>
        </p:txBody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916f30e4c24c3b"/>
          <a:stretch xmlns:a="http://schemas.openxmlformats.org/drawingml/2006/main"/>
        </p:blipFill>
        <p:spPr>
          <a:xfrm xmlns:a="http://schemas.openxmlformats.org/drawingml/2006/main">
            <a:off x="868680" y="2002631"/>
            <a:ext cx="4800600" cy="2700338"/>
          </a:xfrm>
          <a:prstGeom xmlns:a="http://schemas.openxmlformats.org/drawingml/2006/main" prst="roundRect">
            <a:avLst>
              <a:gd name="adj" fmla="val 2817"/>
            </a:avLst>
          </a:prstGeom>
        </p:spPr>
      </p:pic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22046de4414453"/>
          <a:stretch xmlns:a="http://schemas.openxmlformats.org/drawingml/2006/main"/>
        </p:blipFill>
        <p:spPr>
          <a:xfrm xmlns:a="http://schemas.openxmlformats.org/drawingml/2006/main">
            <a:off x="6537960" y="2002631"/>
            <a:ext cx="4800600" cy="2700338"/>
          </a:xfrm>
          <a:prstGeom xmlns:a="http://schemas.openxmlformats.org/drawingml/2006/main" prst="roundRect">
            <a:avLst>
              <a:gd name="adj" fmla="val 2817"/>
            </a:avLst>
          </a:prstGeom>
        </p:spPr>
      </p:pic>
    </p:spTree>
    <p:extLst>
      <p:ext uri="{BB962C8B-B14F-4D97-AF65-F5344CB8AC3E}">
        <p14:creationId xmlns:p14="http://schemas.microsoft.com/office/powerpoint/2010/main" val="122576065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A9F52A3-C9C1-427E-A881-DEEAF3B31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26"/>
          </a:solidFill>
          <a:ln xmlns:a="http://schemas.openxmlformats.org/drawingml/2006/main" w="12700">
            <a:solidFill>
              <a:srgbClr val="081426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CA63A37F-5419-4A11-9F77-8DDD690E3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2552"/>
            <a:ext cx="12191695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26"/>
          </a:solidFill>
          <a:ln xmlns:a="http://schemas.openxmlformats.org/drawingml/2006/main" w="12700">
            <a:solidFill>
              <a:srgbClr val="081426">
                <a:alpha val="0"/>
              </a:srgbClr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1749641-207C-4CB9-870E-5B5928EFA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80467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081426"/>
                </a:solidFill>
                <a:latin typeface="Aptos Display"/>
                <a:ea typeface="Aptos Display"/>
                <a:cs typeface="Aptos Display"/>
              </a:rPr>
              <a:t>Evidence Auditor: the trust layer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C5DAC219-7CCF-47E7-97BE-22B55374C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" y="768096"/>
            <a:ext cx="9601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D6B82"/>
                </a:solidFill>
              </a:rPr>
              <a:t>Every decision KPI must explain where it came from and why the user should trust it.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D29F1F3-3035-4C87-8819-0CD64302C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417320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81426"/>
                </a:solidFill>
              </a:rPr>
              <a:t>A plan can be blocked by: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E13342B2-3B61-49E4-89F5-6E80A3072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828800"/>
            <a:ext cx="4572000" cy="23042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152033"/>
                </a:solidFill>
              </a:rPr>
              <a:t>missing or stale evidence</a:t>
            </a:r>
          </a:p>
          <a:p xmlns:a="http://schemas.openxmlformats.org/drawingml/2006/main">
            <a:r>
              <a:rPr sz="1250">
                <a:solidFill>
                  <a:srgbClr val="152033"/>
                </a:solidFill>
              </a:rPr>
              <a:t>expired or superseded assumptions</a:t>
            </a:r>
          </a:p>
          <a:p xmlns:a="http://schemas.openxmlformats.org/drawingml/2006/main">
            <a:r>
              <a:rPr sz="1250">
                <a:solidFill>
                  <a:srgbClr val="152033"/>
                </a:solidFill>
              </a:rPr>
              <a:t>metric recomputation mismatch</a:t>
            </a:r>
          </a:p>
          <a:p xmlns:a="http://schemas.openxmlformats.org/drawingml/2006/main">
            <a:r>
              <a:rPr sz="1250">
                <a:solidFill>
                  <a:srgbClr val="152033"/>
                </a:solidFill>
              </a:rPr>
              <a:t>failed solver/checker result</a:t>
            </a:r>
          </a:p>
          <a:p xmlns:a="http://schemas.openxmlformats.org/drawingml/2006/main">
            <a:r>
              <a:rPr sz="1250">
                <a:solidFill>
                  <a:srgbClr val="152033"/>
                </a:solidFill>
              </a:rPr>
              <a:t>unsupported claim language</a:t>
            </a:r>
          </a:p>
          <a:p xmlns:a="http://schemas.openxmlformats.org/drawingml/2006/main">
            <a:r>
              <a:rPr sz="1250">
                <a:solidFill>
                  <a:srgbClr val="152033"/>
                </a:solidFill>
              </a:rPr>
              <a:t>changed plan fingerprint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5A5DCC8A-B998-4CA4-8630-A010B0832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417320"/>
            <a:ext cx="2926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81426"/>
                </a:solidFill>
              </a:rPr>
              <a:t>Approval requires: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2B8EA3BC-B14E-4319-B5BE-234845518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828800"/>
            <a:ext cx="4572000" cy="1920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152033"/>
                </a:solidFill>
              </a:rPr>
              <a:t>authenticated role</a:t>
            </a:r>
          </a:p>
          <a:p xmlns:a="http://schemas.openxmlformats.org/drawingml/2006/main">
            <a:r>
              <a:rPr sz="1250">
                <a:solidFill>
                  <a:srgbClr val="152033"/>
                </a:solidFill>
              </a:rPr>
              <a:t>unchanged scenario, simulation, twin and plan fingerprints</a:t>
            </a:r>
          </a:p>
          <a:p xmlns:a="http://schemas.openxmlformats.org/drawingml/2006/main">
            <a:r>
              <a:rPr sz="1250">
                <a:solidFill>
                  <a:srgbClr val="152033"/>
                </a:solidFill>
              </a:rPr>
              <a:t>passed independent checker</a:t>
            </a:r>
          </a:p>
          <a:p xmlns:a="http://schemas.openxmlformats.org/drawingml/2006/main">
            <a:r>
              <a:rPr sz="1250">
                <a:solidFill>
                  <a:srgbClr val="152033"/>
                </a:solidFill>
              </a:rPr>
              <a:t>passed Evidence Auditor</a:t>
            </a:r>
          </a:p>
          <a:p xmlns:a="http://schemas.openxmlformats.org/drawingml/2006/main">
            <a:r>
              <a:rPr sz="1250">
                <a:solidFill>
                  <a:srgbClr val="152033"/>
                </a:solidFill>
              </a:rPr>
              <a:t>immutable actor, comment and UTC timestamp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1F0DAC97-8FDE-4FC6-833C-FEE836D6E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5029200"/>
            <a:ext cx="9326880" cy="530352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AF7EA"/>
          </a:solidFill>
          <a:ln xmlns:a="http://schemas.openxmlformats.org/drawingml/2006/main" w="12700">
            <a:solidFill>
              <a:srgbClr val="14A44D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116A9D13-6795-4122-81DB-43D3A7C13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5184648"/>
            <a:ext cx="89611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081426"/>
                </a:solidFill>
              </a:rPr>
              <a:t>Sanjiv recommends. People decide. Every decision remains auditable.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758CE7FE-4332-44A9-8BAD-3A5E68AFD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00">
                <a:solidFill>
                  <a:srgbClr val="5D6B82"/>
                </a:solidFill>
              </a:rPr>
              <a:t>Sanjiv | ET AI Hackathon 2026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501503ED-6F18-4F65-988C-DE0DD2C64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473952"/>
            <a:ext cx="11430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00">
                <a:solidFill>
                  <a:srgbClr val="5D6B82"/>
                </a:solidFill>
              </a:rPr>
              <a:t>8/12</a:t>
            </a:r>
          </a:p>
        </p:txBody>
      </p:sp>
    </p:spTree>
    <p:extLst>
      <p:ext uri="{BB962C8B-B14F-4D97-AF65-F5344CB8AC3E}">
        <p14:creationId xmlns:p14="http://schemas.microsoft.com/office/powerpoint/2010/main" val="163451086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DE50B9F-2ED2-4178-A4E4-46BFAA7B0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26"/>
          </a:solidFill>
          <a:ln xmlns:a="http://schemas.openxmlformats.org/drawingml/2006/main" w="12700">
            <a:solidFill>
              <a:srgbClr val="081426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A89C3CD-5662-47FE-96FF-030676B17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2552"/>
            <a:ext cx="12191695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26"/>
          </a:solidFill>
          <a:ln xmlns:a="http://schemas.openxmlformats.org/drawingml/2006/main" w="12700">
            <a:solidFill>
              <a:srgbClr val="081426">
                <a:alpha val="0"/>
              </a:srgbClr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3BCF1BF9-9214-4A95-A61E-7C7F68B91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80467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081426"/>
                </a:solidFill>
                <a:latin typeface="Aptos Display"/>
                <a:ea typeface="Aptos Display"/>
                <a:cs typeface="Aptos Display"/>
              </a:rPr>
              <a:t>Validation is part of the product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A57B6C7-37AD-4090-8663-E4F03C38E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" y="768096"/>
            <a:ext cx="9601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D6B82"/>
                </a:solidFill>
              </a:rPr>
              <a:t>Current repository evidence: 212 tests, two complete browser journeys, a clean committed benchmark and explicit security checks.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EB4CCDD-0EA9-4828-B8C6-0A09AAAF5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371600"/>
            <a:ext cx="201168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8D58E13E-528F-4132-A965-1607BCFB5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527048"/>
            <a:ext cx="19202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0F62FE"/>
                </a:solidFill>
              </a:rPr>
              <a:t>212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51285DD0-D9A7-48BC-ABD1-DD7B055B7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901952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>
                <a:solidFill>
                  <a:srgbClr val="5D6B82"/>
                </a:solidFill>
              </a:rPr>
              <a:t>188 Python + 23 web + 1 contract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13393849-AA3E-4AEF-A557-A9573D49B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1371600"/>
            <a:ext cx="201168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2F2CFF22-BE07-4376-B1D9-871159C3D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527048"/>
            <a:ext cx="19202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00A88F"/>
                </a:solidFill>
              </a:rPr>
              <a:t>2 journeys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573F2910-37BB-40A3-96BA-189F54C46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1901952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>
                <a:solidFill>
                  <a:srgbClr val="5D6B82"/>
                </a:solidFill>
              </a:rPr>
              <a:t>All 8 product screens; Observe to Monitor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9280A4BF-577A-4B55-80A6-7892E9F91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1371600"/>
            <a:ext cx="201168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F3135FDF-1CED-492B-809E-23A97DE69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1527048"/>
            <a:ext cx="19202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4A44D"/>
                </a:solidFill>
              </a:rPr>
              <a:t>CLEAN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3977FA0D-3096-40DC-A4F7-33DAD466B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1901952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>
                <a:solidFill>
                  <a:srgbClr val="5D6B82"/>
                </a:solidFill>
              </a:rPr>
              <a:t>benchmark source: CLEAN_COMMITTED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7E053368-0AF1-44A6-AE8B-9F6163E5C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371600"/>
            <a:ext cx="201168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D443691E-16B9-4AD6-B029-72E82D5F0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1527048"/>
            <a:ext cx="19202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5E35B1"/>
                </a:solidFill>
              </a:rPr>
              <a:t>8 / 8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29FE80CA-FD96-404C-B15B-F4E87F318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1901952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>
                <a:solidFill>
                  <a:srgbClr val="5D6B82"/>
                </a:solidFill>
              </a:rPr>
              <a:t>security checks passed; 0 failure names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28631CA1-8A95-4669-9872-AAAC8DA33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063240"/>
            <a:ext cx="2011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81426"/>
                </a:solidFill>
              </a:rPr>
              <a:t>Quality gates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7E1C9808-F191-45A3-9CED-D4D6F7842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474720"/>
            <a:ext cx="5029200" cy="23042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152033"/>
                </a:solidFill>
              </a:rPr>
              <a:t>212 tests: 188 Python / 23 web / 1 contract</a:t>
            </a:r>
          </a:p>
          <a:p xmlns:a="http://schemas.openxmlformats.org/drawingml/2006/main">
            <a:r>
              <a:rPr sz="1250">
                <a:solidFill>
                  <a:srgbClr val="152033"/>
                </a:solidFill>
              </a:rPr>
              <a:t>lint + strict type checks + production build</a:t>
            </a:r>
          </a:p>
          <a:p xmlns:a="http://schemas.openxmlformats.org/drawingml/2006/main">
            <a:r>
              <a:rPr sz="1250">
                <a:solidFill>
                  <a:srgbClr val="152033"/>
                </a:solidFill>
              </a:rPr>
              <a:t>contract drift clean</a:t>
            </a:r>
          </a:p>
          <a:p xmlns:a="http://schemas.openxmlformats.org/drawingml/2006/main">
            <a:r>
              <a:rPr sz="1250">
                <a:solidFill>
                  <a:srgbClr val="152033"/>
                </a:solidFill>
              </a:rPr>
              <a:t>2 Playwright journeys / 8 real screenshots</a:t>
            </a:r>
          </a:p>
          <a:p xmlns:a="http://schemas.openxmlformats.org/drawingml/2006/main">
            <a:r>
              <a:rPr sz="1250">
                <a:solidFill>
                  <a:srgbClr val="152033"/>
                </a:solidFill>
              </a:rPr>
              <a:t>clean benchmark at commit de5140a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8A74A567-EE54-44D5-8FCB-4AB2B1920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063240"/>
            <a:ext cx="2011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81426"/>
                </a:solidFill>
              </a:rPr>
              <a:t>Honest labels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52A68AF7-9B21-455B-A0C4-F85304D0F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474720"/>
            <a:ext cx="4754880" cy="1920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152033"/>
                </a:solidFill>
              </a:rPr>
              <a:t>PortWatch: OBSERVED / CURRENT</a:t>
            </a:r>
          </a:p>
          <a:p xmlns:a="http://schemas.openxmlformats.org/drawingml/2006/main">
            <a:r>
              <a:rPr sz="1250">
                <a:solidFill>
                  <a:srgbClr val="152033"/>
                </a:solidFill>
              </a:rPr>
              <a:t>AIS position layer: REPLAY</a:t>
            </a:r>
          </a:p>
          <a:p xmlns:a="http://schemas.openxmlformats.org/drawingml/2006/main">
            <a:r>
              <a:rPr sz="1250">
                <a:solidFill>
                  <a:srgbClr val="152033"/>
                </a:solidFill>
              </a:rPr>
              <a:t>risk model: FIXTURE</a:t>
            </a:r>
          </a:p>
          <a:p xmlns:a="http://schemas.openxmlformats.org/drawingml/2006/main">
            <a:r>
              <a:rPr sz="1250">
                <a:solidFill>
                  <a:srgbClr val="152033"/>
                </a:solidFill>
              </a:rPr>
              <a:t>severity is not probability</a:t>
            </a:r>
          </a:p>
          <a:p xmlns:a="http://schemas.openxmlformats.org/drawingml/2006/main">
            <a:r>
              <a:rPr sz="1250">
                <a:solidFill>
                  <a:srgbClr val="152033"/>
                </a:solidFill>
              </a:rPr>
              <a:t>commercial inputs: ASSUMPTION</a:t>
            </a:r>
          </a:p>
          <a:p xmlns:a="http://schemas.openxmlformats.org/drawingml/2006/main">
            <a:r>
              <a:rPr sz="1250">
                <a:solidFill>
                  <a:srgbClr val="152033"/>
                </a:solidFill>
              </a:rPr>
              <a:t>reserve fill: never inferred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ED2F6675-18CC-495B-ADBC-D632F9509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00">
                <a:solidFill>
                  <a:srgbClr val="5D6B82"/>
                </a:solidFill>
              </a:rPr>
              <a:t>Sanjiv | ET AI Hackathon 2026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75933267-0088-4BA2-B4CD-92FD0A0FE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473952"/>
            <a:ext cx="11430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00">
                <a:solidFill>
                  <a:srgbClr val="5D6B82"/>
                </a:solidFill>
              </a:rPr>
              <a:t>9/12</a:t>
            </a:r>
          </a:p>
        </p:txBody>
      </p:sp>
    </p:spTree>
    <p:extLst>
      <p:ext uri="{BB962C8B-B14F-4D97-AF65-F5344CB8AC3E}">
        <p14:creationId xmlns:p14="http://schemas.microsoft.com/office/powerpoint/2010/main" val="100201928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999CF5C1-A0E5-4DAF-AD26-67C576055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26"/>
          </a:solidFill>
          <a:ln xmlns:a="http://schemas.openxmlformats.org/drawingml/2006/main" w="12700">
            <a:solidFill>
              <a:srgbClr val="081426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CEAE0539-DE1F-4DC4-A131-AFE205DF3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2552"/>
            <a:ext cx="12191695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26"/>
          </a:solidFill>
          <a:ln xmlns:a="http://schemas.openxmlformats.org/drawingml/2006/main" w="12700">
            <a:solidFill>
              <a:srgbClr val="081426">
                <a:alpha val="0"/>
              </a:srgbClr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A101859-0331-40FF-8439-BD679CB8D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80467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081426"/>
                </a:solidFill>
                <a:latin typeface="Aptos Display"/>
                <a:ea typeface="Aptos Display"/>
                <a:cs typeface="Aptos Display"/>
              </a:rPr>
              <a:t>Architecture built to scale without losing truth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54F8460-C4FE-4273-ABB6-B6AC21B6D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" y="768096"/>
            <a:ext cx="9601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D6B82"/>
                </a:solidFill>
              </a:rPr>
              <a:t>Provider-neutral adapters feed an evidence ledger; all decisions consume immutable fingerprints.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70EFEB6B-8717-4E17-91F5-658A487CB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43000"/>
            <a:ext cx="1688592" cy="50292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DDEB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975106F6-F278-4329-A02A-D6CC0C83D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307592"/>
            <a:ext cx="1633728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 b="1">
                <a:solidFill>
                  <a:srgbClr val="081426"/>
                </a:solidFill>
              </a:rPr>
              <a:t>AIS / Replay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9D26B477-A520-4540-88EA-1AA89914B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4120" y="1143000"/>
            <a:ext cx="1688592" cy="50292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DDEB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45EB7ECD-0242-4E5A-B271-096DE8F0C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1552" y="1307592"/>
            <a:ext cx="1633728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 b="1">
                <a:solidFill>
                  <a:srgbClr val="081426"/>
                </a:solidFill>
              </a:rPr>
              <a:t>GDELT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4E4CD35B-D96C-47F6-ACB6-B4E118614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2440" y="1143000"/>
            <a:ext cx="1688592" cy="50292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DDEB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57205B3E-9176-4288-AE07-47F327285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9872" y="1307592"/>
            <a:ext cx="1633728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 b="1">
                <a:solidFill>
                  <a:srgbClr val="081426"/>
                </a:solidFill>
              </a:rPr>
              <a:t>PortWatch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38256B7B-7158-420A-9A78-3526B81D9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1143000"/>
            <a:ext cx="1688592" cy="50292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DDEB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79502FE3-5A07-448A-B49C-AD0DCE272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8192" y="1307592"/>
            <a:ext cx="1633728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 b="1">
                <a:solidFill>
                  <a:srgbClr val="081426"/>
                </a:solidFill>
              </a:rPr>
              <a:t>OFAC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8A6139F1-BD0B-4DE1-8BE5-AA8F8C2A7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9080" y="1143000"/>
            <a:ext cx="1688592" cy="50292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DDEB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BF98D8CE-0837-466A-A8B6-083E5D87C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6512" y="1307592"/>
            <a:ext cx="1633728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 b="1">
                <a:solidFill>
                  <a:srgbClr val="081426"/>
                </a:solidFill>
              </a:rPr>
              <a:t>FIRMS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2CAA38DB-EFF4-4E81-8A51-40B546DAA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143000"/>
            <a:ext cx="1688592" cy="50292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DDEB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AA93A2AB-5146-4AC0-B8CF-4122025E6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4832" y="1307592"/>
            <a:ext cx="1633728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 b="1">
                <a:solidFill>
                  <a:srgbClr val="081426"/>
                </a:solidFill>
              </a:rPr>
              <a:t>EIA / FRED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B23BCF60-01EA-472F-A690-4AE726677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1691640"/>
            <a:ext cx="0" cy="4114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5D6B82"/>
            </a:solidFill>
            <a:prstDash val="solid"/>
            <a:headEnd type="none"/>
            <a:tailEnd type="triangle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2639FA0C-5B15-4B44-B128-9F2C369AA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48840"/>
            <a:ext cx="2587752" cy="50292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8F6F2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381A0B13-916A-4F1E-B281-BD00E8947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313432"/>
            <a:ext cx="2532888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 b="1">
                <a:solidFill>
                  <a:srgbClr val="081426"/>
                </a:solidFill>
              </a:rPr>
              <a:t>Evidence ledger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731466EC-3690-4199-B06A-B9F60D484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2148840"/>
            <a:ext cx="2587752" cy="50292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8F6F2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3D81B5D2-D440-4635-8AFF-4BB5AE442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0712" y="2313432"/>
            <a:ext cx="2532888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 b="1">
                <a:solidFill>
                  <a:srgbClr val="081426"/>
                </a:solidFill>
              </a:rPr>
              <a:t>Source health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84C031E7-50FD-4C25-82AA-CD550CDF3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2148840"/>
            <a:ext cx="2587752" cy="50292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8F6F2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024CF633-A41E-4842-94E9-0E670FFD5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8192" y="2313432"/>
            <a:ext cx="2532888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 b="1">
                <a:solidFill>
                  <a:srgbClr val="081426"/>
                </a:solidFill>
              </a:rPr>
              <a:t>Assumption registry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DAACCBE6-4FA4-4A4F-948B-33A0F8760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2148840"/>
            <a:ext cx="2587752" cy="50292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8F6F2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4A9790A6-9B37-457E-BFA6-02A4DE65C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5672" y="2313432"/>
            <a:ext cx="2532888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 b="1">
                <a:solidFill>
                  <a:srgbClr val="081426"/>
                </a:solidFill>
              </a:rPr>
              <a:t>Audit trail</a:t>
            </a:r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91B19F25-BD29-4AAA-AD58-5AEA2DB30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2697480"/>
            <a:ext cx="0" cy="4114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5D6B82"/>
            </a:solidFill>
            <a:prstDash val="solid"/>
            <a:headEnd type="none"/>
            <a:tailEnd type="triangle"/>
          </a:ln>
        </p:spPr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8FA00C24-B4CA-4CAC-A21C-2A950B208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54680"/>
            <a:ext cx="2587752" cy="50292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2DA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422766EF-66A0-4AB9-890C-F575BE3BE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319272"/>
            <a:ext cx="2532888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 b="1">
                <a:solidFill>
                  <a:srgbClr val="081426"/>
                </a:solidFill>
              </a:rPr>
              <a:t>Digital twin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DD39787D-82FD-454D-9BDE-2AC0B3E8E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3154680"/>
            <a:ext cx="2587752" cy="50292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2DA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F55A612E-92BC-4042-B527-F7061654E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0712" y="3319272"/>
            <a:ext cx="2532888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 b="1">
                <a:solidFill>
                  <a:srgbClr val="081426"/>
                </a:solidFill>
              </a:rPr>
              <a:t>Risk engine</a:t>
            </a:r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48FEC87D-57C9-4F2E-91D9-40190A724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3154680"/>
            <a:ext cx="2587752" cy="50292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2DA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3A5538C5-3AB6-41F3-A71D-F6CC20B3A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8192" y="3319272"/>
            <a:ext cx="2532888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 b="1">
                <a:solidFill>
                  <a:srgbClr val="081426"/>
                </a:solidFill>
              </a:rPr>
              <a:t>Scenario compiler</a:t>
            </a:r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27FD5491-E017-4322-AE57-8F481E3A0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3154680"/>
            <a:ext cx="2587752" cy="50292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2DA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1B84D898-8259-4757-8BCF-6496E7C9E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5672" y="3319272"/>
            <a:ext cx="2532888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 b="1">
                <a:solidFill>
                  <a:srgbClr val="081426"/>
                </a:solidFill>
              </a:rPr>
              <a:t>Impact simulator</a:t>
            </a:r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F0532E66-AC71-4968-8DAA-85069DB22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703320"/>
            <a:ext cx="0" cy="4114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5D6B82"/>
            </a:solidFill>
            <a:prstDash val="solid"/>
            <a:headEnd type="none"/>
            <a:tailEnd type="triangle"/>
          </a:ln>
        </p:spPr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3F841505-40BA-4A42-BFF8-EA7CA615A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60520"/>
            <a:ext cx="2587752" cy="50292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0E9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40E423AB-B031-48BD-B3EA-E2F4C8A4A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325112"/>
            <a:ext cx="2532888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 b="1">
                <a:solidFill>
                  <a:srgbClr val="081426"/>
                </a:solidFill>
              </a:rPr>
              <a:t>Procurement solver</a:t>
            </a:r>
          </a:p>
        </p:txBody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8F0E3AD0-B44D-4B7B-89BC-3E40C5458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4160520"/>
            <a:ext cx="2587752" cy="50292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0E9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393C92E0-8F06-44EB-8B96-AE2305AC8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0712" y="4325112"/>
            <a:ext cx="2532888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 b="1">
                <a:solidFill>
                  <a:srgbClr val="081426"/>
                </a:solidFill>
              </a:rPr>
              <a:t>Reserve solver</a:t>
            </a:r>
          </a:p>
        </p:txBody>
      </p:sp>
      <p:sp>
        <p:nvSpPr>
          <p:cNvPr id="41" name="Shape 39">
            <a:extLst xmlns:a="http://schemas.openxmlformats.org/drawingml/2006/main">
              <a:ext uri="{FF2B5EF4-FFF2-40B4-BE49-F238E27FC236}">
                <a16:creationId xmlns:a16="http://schemas.microsoft.com/office/drawing/2014/main" id="{F0A32B49-28D5-46BC-8027-F57FB6978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4160520"/>
            <a:ext cx="2587752" cy="50292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0E9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E00500E1-19B6-4B0F-A32F-B1205AC54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8192" y="4325112"/>
            <a:ext cx="2532888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 b="1">
                <a:solidFill>
                  <a:srgbClr val="081426"/>
                </a:solidFill>
              </a:rPr>
              <a:t>Independent checkers</a:t>
            </a:r>
          </a:p>
        </p:txBody>
      </p:sp>
      <p:sp>
        <p:nvSpPr>
          <p:cNvPr id="43" name="Shape 41">
            <a:extLst xmlns:a="http://schemas.openxmlformats.org/drawingml/2006/main">
              <a:ext uri="{FF2B5EF4-FFF2-40B4-BE49-F238E27FC236}">
                <a16:creationId xmlns:a16="http://schemas.microsoft.com/office/drawing/2014/main" id="{3C96906C-6947-4E2E-837C-C855181CE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4160520"/>
            <a:ext cx="2587752" cy="50292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0E9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B5848BB5-5F61-477A-BD19-916B2BE0E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5672" y="4325112"/>
            <a:ext cx="2532888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 b="1">
                <a:solidFill>
                  <a:srgbClr val="081426"/>
                </a:solidFill>
              </a:rPr>
              <a:t>Evidence auditor</a:t>
            </a:r>
          </a:p>
        </p:txBody>
      </p:sp>
      <p:sp>
        <p:nvSpPr>
          <p:cNvPr id="45" name="Shape 43">
            <a:extLst xmlns:a="http://schemas.openxmlformats.org/drawingml/2006/main">
              <a:ext uri="{FF2B5EF4-FFF2-40B4-BE49-F238E27FC236}">
                <a16:creationId xmlns:a16="http://schemas.microsoft.com/office/drawing/2014/main" id="{F5B801D9-324F-4DBC-99F9-A78C94575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709160"/>
            <a:ext cx="0" cy="4114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5D6B82"/>
            </a:solidFill>
            <a:prstDash val="solid"/>
            <a:headEnd type="none"/>
            <a:tailEnd type="triangle"/>
          </a:ln>
        </p:spPr>
      </p:sp>
      <p:sp>
        <p:nvSpPr>
          <p:cNvPr id="46" name="Shape 44">
            <a:extLst xmlns:a="http://schemas.openxmlformats.org/drawingml/2006/main">
              <a:ext uri="{FF2B5EF4-FFF2-40B4-BE49-F238E27FC236}">
                <a16:creationId xmlns:a16="http://schemas.microsoft.com/office/drawing/2014/main" id="{CCC35B09-CCC3-483A-853C-D78FE00FE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66360"/>
            <a:ext cx="2587752" cy="50292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AF7EA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C6E643EF-6BBC-4586-820C-CB9683AB0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5330952"/>
            <a:ext cx="2532888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 b="1">
                <a:solidFill>
                  <a:srgbClr val="081426"/>
                </a:solidFill>
              </a:rPr>
              <a:t>Command UI</a:t>
            </a:r>
          </a:p>
        </p:txBody>
      </p:sp>
      <p:sp>
        <p:nvSpPr>
          <p:cNvPr id="48" name="Shape 46">
            <a:extLst xmlns:a="http://schemas.openxmlformats.org/drawingml/2006/main">
              <a:ext uri="{FF2B5EF4-FFF2-40B4-BE49-F238E27FC236}">
                <a16:creationId xmlns:a16="http://schemas.microsoft.com/office/drawing/2014/main" id="{9541155E-5975-434A-9295-DB836E25A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5166360"/>
            <a:ext cx="2587752" cy="50292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AF7EA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49" name="Text 47">
            <a:extLst xmlns:a="http://schemas.openxmlformats.org/drawingml/2006/main">
              <a:ext uri="{FF2B5EF4-FFF2-40B4-BE49-F238E27FC236}">
                <a16:creationId xmlns:a16="http://schemas.microsoft.com/office/drawing/2014/main" id="{2F316874-9D94-49B0-AE06-0EC478332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0712" y="5330952"/>
            <a:ext cx="2532888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 b="1">
                <a:solidFill>
                  <a:srgbClr val="081426"/>
                </a:solidFill>
              </a:rPr>
              <a:t>Replay</a:t>
            </a:r>
          </a:p>
        </p:txBody>
      </p:sp>
      <p:sp>
        <p:nvSpPr>
          <p:cNvPr id="50" name="Shape 48">
            <a:extLst xmlns:a="http://schemas.openxmlformats.org/drawingml/2006/main">
              <a:ext uri="{FF2B5EF4-FFF2-40B4-BE49-F238E27FC236}">
                <a16:creationId xmlns:a16="http://schemas.microsoft.com/office/drawing/2014/main" id="{E25DCF09-CF2D-499C-B7D0-7C7BF3323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5166360"/>
            <a:ext cx="2587752" cy="50292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AF7EA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51" name="Text 49">
            <a:extLst xmlns:a="http://schemas.openxmlformats.org/drawingml/2006/main">
              <a:ext uri="{FF2B5EF4-FFF2-40B4-BE49-F238E27FC236}">
                <a16:creationId xmlns:a16="http://schemas.microsoft.com/office/drawing/2014/main" id="{E1823C37-9509-41CB-B045-A5C362853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8192" y="5330952"/>
            <a:ext cx="2532888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 b="1">
                <a:solidFill>
                  <a:srgbClr val="081426"/>
                </a:solidFill>
              </a:rPr>
              <a:t>Exports</a:t>
            </a:r>
          </a:p>
        </p:txBody>
      </p:sp>
      <p:sp>
        <p:nvSpPr>
          <p:cNvPr id="52" name="Shape 50">
            <a:extLst xmlns:a="http://schemas.openxmlformats.org/drawingml/2006/main">
              <a:ext uri="{FF2B5EF4-FFF2-40B4-BE49-F238E27FC236}">
                <a16:creationId xmlns:a16="http://schemas.microsoft.com/office/drawing/2014/main" id="{44695FB4-AB27-4F46-A86F-E1AD19C62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5166360"/>
            <a:ext cx="2587752" cy="50292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AF7EA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53" name="Text 51">
            <a:extLst xmlns:a="http://schemas.openxmlformats.org/drawingml/2006/main">
              <a:ext uri="{FF2B5EF4-FFF2-40B4-BE49-F238E27FC236}">
                <a16:creationId xmlns:a16="http://schemas.microsoft.com/office/drawing/2014/main" id="{464DCE27-62E7-447E-9B83-E3AEE24B8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5672" y="5330952"/>
            <a:ext cx="2532888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 b="1">
                <a:solidFill>
                  <a:srgbClr val="081426"/>
                </a:solidFill>
              </a:rPr>
              <a:t>Monitoring</a:t>
            </a:r>
          </a:p>
        </p:txBody>
      </p:sp>
      <p:sp>
        <p:nvSpPr>
          <p:cNvPr id="54" name="Text 52">
            <a:extLst xmlns:a="http://schemas.openxmlformats.org/drawingml/2006/main">
              <a:ext uri="{FF2B5EF4-FFF2-40B4-BE49-F238E27FC236}">
                <a16:creationId xmlns:a16="http://schemas.microsoft.com/office/drawing/2014/main" id="{CD972191-B93F-428B-BEF3-B2BDE4E32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00">
                <a:solidFill>
                  <a:srgbClr val="5D6B82"/>
                </a:solidFill>
              </a:rPr>
              <a:t>Sanjiv | ET AI Hackathon 2026</a:t>
            </a:r>
          </a:p>
        </p:txBody>
      </p:sp>
      <p:sp>
        <p:nvSpPr>
          <p:cNvPr id="55" name="Text 53">
            <a:extLst xmlns:a="http://schemas.openxmlformats.org/drawingml/2006/main">
              <a:ext uri="{FF2B5EF4-FFF2-40B4-BE49-F238E27FC236}">
                <a16:creationId xmlns:a16="http://schemas.microsoft.com/office/drawing/2014/main" id="{6E698825-46E5-451C-B758-F8AE4C43A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473952"/>
            <a:ext cx="11430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00">
                <a:solidFill>
                  <a:srgbClr val="5D6B82"/>
                </a:solidFill>
              </a:rPr>
              <a:t>10/12</a:t>
            </a:r>
          </a:p>
        </p:txBody>
      </p:sp>
    </p:spTree>
    <p:extLst>
      <p:ext uri="{BB962C8B-B14F-4D97-AF65-F5344CB8AC3E}">
        <p14:creationId xmlns:p14="http://schemas.microsoft.com/office/powerpoint/2010/main" val="54668491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2A6DCD6D-527A-4684-84F1-B2306C7C9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26"/>
          </a:solidFill>
          <a:ln xmlns:a="http://schemas.openxmlformats.org/drawingml/2006/main" w="12700">
            <a:solidFill>
              <a:srgbClr val="081426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DA7C99CB-1A85-41FA-9AA7-2B3858FC7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2552"/>
            <a:ext cx="12191695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26"/>
          </a:solidFill>
          <a:ln xmlns:a="http://schemas.openxmlformats.org/drawingml/2006/main" w="12700">
            <a:solidFill>
              <a:srgbClr val="081426">
                <a:alpha val="0"/>
              </a:srgbClr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D6DB370-7FBD-4F4A-97F9-B6E10A4AC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80467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081426"/>
                </a:solidFill>
                <a:latin typeface="Aptos Display"/>
                <a:ea typeface="Aptos Display"/>
                <a:cs typeface="Aptos Display"/>
              </a:rPr>
              <a:t>One crisis. One complete decision loop.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BB8D7478-10DC-4DBA-AC78-1A3B05D3A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" y="768096"/>
            <a:ext cx="9601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D6B82"/>
                </a:solidFill>
              </a:rPr>
              <a:t>Real application footage, a human cursor, a current public observation and explicit replay boundaries.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2695E846-9200-49BF-BD9F-965AC5533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88720"/>
            <a:ext cx="228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F62FE"/>
                </a:solidFill>
              </a:rPr>
              <a:t>1.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D3CCBED-B21A-43EE-920D-C9E7A918C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188720"/>
            <a:ext cx="9966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152033"/>
                </a:solidFill>
              </a:rPr>
              <a:t>Open Maritime: OBSERVED/CURRENT PortWatch + replay AIS layer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F3BF0F3A-68AA-435D-A1A3-6EF14E52B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682496"/>
            <a:ext cx="228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F62FE"/>
                </a:solidFill>
              </a:rPr>
              <a:t>2.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F6951812-719E-411F-B31E-B1E459500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682496"/>
            <a:ext cx="9966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152033"/>
                </a:solidFill>
              </a:rPr>
              <a:t>Inspect Hormuz risk severity / confidence / completeness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4FE5DBF9-7E82-43E4-8C11-B6EAC9D59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76272"/>
            <a:ext cx="228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F62FE"/>
                </a:solidFill>
              </a:rPr>
              <a:t>3.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758407D1-81BB-498B-9C39-1B9E203C1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76272"/>
            <a:ext cx="9966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152033"/>
                </a:solidFill>
              </a:rPr>
              <a:t>Compile “Close the Strait of Hormuz for 14 days”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64AF0E4B-136B-472D-BE9A-59310785D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670048"/>
            <a:ext cx="228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F62FE"/>
                </a:solidFill>
              </a:rPr>
              <a:t>4.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B2FE8AD3-EEA2-41C5-AB86-5B6A85200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670048"/>
            <a:ext cx="9966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152033"/>
                </a:solidFill>
              </a:rPr>
              <a:t>Run no-action simulation and show shortfall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4ABF3ED4-BF30-4B94-85D9-76319BB8C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163824"/>
            <a:ext cx="228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F62FE"/>
                </a:solidFill>
              </a:rPr>
              <a:t>5.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79F6FE60-072C-43DD-AF85-7FB825B9E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63824"/>
            <a:ext cx="9966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152033"/>
                </a:solidFill>
              </a:rPr>
              <a:t>Compare three procurement plans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0C6F1EB2-74C4-4992-9ADE-6933129CC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657600"/>
            <a:ext cx="228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F62FE"/>
                </a:solidFill>
              </a:rPr>
              <a:t>6.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812C8C15-CAEC-4914-A130-4C2AA90B6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57600"/>
            <a:ext cx="9966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152033"/>
                </a:solidFill>
              </a:rPr>
              <a:t>Coordinate strategic reserve policy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0F2C5335-E35D-4CAA-9E55-9F96BBD19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151376"/>
            <a:ext cx="228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F62FE"/>
                </a:solidFill>
              </a:rPr>
              <a:t>7.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DFBCEE6E-7957-4239-AC7E-6B6A16035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151376"/>
            <a:ext cx="9966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152033"/>
                </a:solidFill>
              </a:rPr>
              <a:t>Open Why this plan + evidence drawer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D0E45D28-EFAB-48BD-B440-4669AF8F2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645152"/>
            <a:ext cx="228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F62FE"/>
                </a:solidFill>
              </a:rPr>
              <a:t>8.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D0AA1321-EA3F-4CFB-AB48-E41951F5C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45152"/>
            <a:ext cx="9966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152033"/>
                </a:solidFill>
              </a:rPr>
              <a:t>Submit for review / approval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9647E92-3612-4F7D-9C08-0C22DFD18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138928"/>
            <a:ext cx="228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F62FE"/>
                </a:solidFill>
              </a:rPr>
              <a:t>9.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E474BF4A-0979-4022-9438-930283370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38928"/>
            <a:ext cx="9966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152033"/>
                </a:solidFill>
              </a:rPr>
              <a:t>Close on monitored command center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2CBF3BA8-B780-4DE7-81B7-D82A95B89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806440"/>
            <a:ext cx="10241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81426"/>
                </a:solidFill>
              </a:rPr>
              <a:t>Target: 3:00-3:30. Lead with the observed signal, show the checked decision chain, and close on human approval plus monitored evidence.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CA683DCE-7565-4429-914F-96461F61F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00">
                <a:solidFill>
                  <a:srgbClr val="5D6B82"/>
                </a:solidFill>
              </a:rPr>
              <a:t>Sanjiv | ET AI Hackathon 2026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CB5B5EC9-2949-40B6-B35A-1C660C82A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473952"/>
            <a:ext cx="11430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00">
                <a:solidFill>
                  <a:srgbClr val="5D6B82"/>
                </a:solidFill>
              </a:rPr>
              <a:t>11/12</a:t>
            </a:r>
          </a:p>
        </p:txBody>
      </p:sp>
    </p:spTree>
    <p:extLst>
      <p:ext uri="{BB962C8B-B14F-4D97-AF65-F5344CB8AC3E}">
        <p14:creationId xmlns:p14="http://schemas.microsoft.com/office/powerpoint/2010/main" val="135185653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1B73270-83E1-4437-A040-F2C1D8ABA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26"/>
          </a:solidFill>
          <a:ln xmlns:a="http://schemas.openxmlformats.org/drawingml/2006/main" w="12700">
            <a:solidFill>
              <a:srgbClr val="081426">
                <a:alpha val="0"/>
              </a:srgbClr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B25FADF-22AE-4530-BECC-94D53B2C6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60120"/>
            <a:ext cx="310896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600" b="1">
                <a:solidFill>
                  <a:srgbClr val="FFFFFF"/>
                </a:solidFill>
              </a:rPr>
              <a:t>Sanjiv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412E424-2815-4163-9594-0378357B0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691640"/>
            <a:ext cx="877824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EAF3FF"/>
                </a:solidFill>
              </a:rPr>
              <a:t>A live threat appears - or a user types one. Sanjiv shows what is exposed, what happens without intervention, and the best defensible action to take.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3325B3F-7B1B-4A56-8523-1B2A20EBF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816352"/>
            <a:ext cx="45720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00C2FF"/>
                </a:solidFill>
              </a:rPr>
              <a:t>Keep India's energy moving.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AAAA6E1-C6EE-48DD-B961-AB57F53E7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138928"/>
            <a:ext cx="8046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D7E8FF"/>
                </a:solidFill>
              </a:rPr>
              <a:t>Human authority. Audited metrics. Deterministic response options.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F403842-96F3-4E24-9856-F54D69142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715000"/>
            <a:ext cx="914400" cy="347472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F62FE"/>
          </a:solidFill>
          <a:ln xmlns:a="http://schemas.openxmlformats.org/drawingml/2006/main" w="12700">
            <a:solidFill>
              <a:srgbClr val="0F62FE">
                <a:alpha val="0"/>
              </a:srgbClr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F61532B-F884-4026-AF62-4C6569C56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811012"/>
            <a:ext cx="822960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Observe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9DCF35FF-4DC9-4540-B541-9E34CC388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5715000"/>
            <a:ext cx="868680" cy="347472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E88E5"/>
          </a:solidFill>
          <a:ln xmlns:a="http://schemas.openxmlformats.org/drawingml/2006/main" w="12700">
            <a:solidFill>
              <a:srgbClr val="1E88E5">
                <a:alpha val="0"/>
              </a:srgbClr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5B9088ED-9B5D-4899-B0CA-18F87BC99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811012"/>
            <a:ext cx="777240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Detect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E09322AC-AF19-4406-98C1-055B8A4AF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5715000"/>
            <a:ext cx="1051560" cy="347472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0A88F"/>
          </a:solidFill>
          <a:ln xmlns:a="http://schemas.openxmlformats.org/drawingml/2006/main" w="12700">
            <a:solidFill>
              <a:srgbClr val="00A88F">
                <a:alpha val="0"/>
              </a:srgbClr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AC286C63-BE59-465B-9463-9CD0EC09E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5811012"/>
            <a:ext cx="960120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Simulate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680FC3A2-5F8A-4E6B-8D29-6D05439B4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5715000"/>
            <a:ext cx="1051560" cy="347472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5E35B1"/>
          </a:solidFill>
          <a:ln xmlns:a="http://schemas.openxmlformats.org/drawingml/2006/main" w="12700">
            <a:solidFill>
              <a:srgbClr val="5E35B1">
                <a:alpha val="0"/>
              </a:srgbClr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848B20CE-9F1A-4483-871E-1890B441A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3360" y="5811012"/>
            <a:ext cx="960120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Optimise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70F341B5-C519-476D-9E98-5622A2A0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5715000"/>
            <a:ext cx="1051560" cy="347472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67E22"/>
          </a:solidFill>
          <a:ln xmlns:a="http://schemas.openxmlformats.org/drawingml/2006/main" w="12700">
            <a:solidFill>
              <a:srgbClr val="E67E22">
                <a:alpha val="0"/>
              </a:srgbClr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9FD8128D-1DC9-438D-A7AB-1901900EB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5811012"/>
            <a:ext cx="960120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Approve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DC856AD0-CD40-47B6-857E-E2CE25EC3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5715000"/>
            <a:ext cx="960120" cy="347472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4A44D"/>
          </a:solidFill>
          <a:ln xmlns:a="http://schemas.openxmlformats.org/drawingml/2006/main" w="12700">
            <a:solidFill>
              <a:srgbClr val="14A44D">
                <a:alpha val="0"/>
              </a:srgbClr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698515EA-CFFF-490A-95D7-A1A441FE0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811012"/>
            <a:ext cx="868680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Monitor</a:t>
            </a:r>
          </a:p>
        </p:txBody>
      </p:sp>
    </p:spTree>
    <p:extLst>
      <p:ext uri="{BB962C8B-B14F-4D97-AF65-F5344CB8AC3E}">
        <p14:creationId xmlns:p14="http://schemas.microsoft.com/office/powerpoint/2010/main" val="197230695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2026-07-22T16:27:35.4330000Z</dcterms:created>
  <dcterms:modified xsi:type="dcterms:W3CDTF">2026-07-22T16:27:35.4330000Z</dcterms:modified>
</coreProperties>
</file>