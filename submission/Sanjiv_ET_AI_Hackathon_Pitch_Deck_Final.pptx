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1b7516abd545cd" /><Relationship Type="http://schemas.openxmlformats.org/officeDocument/2006/relationships/extended-properties" Target="/docProps/app.xml" Id="R9eb6f36c07ba47e0" /><Relationship Type="http://schemas.openxmlformats.org/officeDocument/2006/relationships/officeDocument" Target="/ppt/presentation.xml" Id="Rd6b6f8b0c56846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5f9fde887a4483"/>
  </p:sldMasterIdLst>
  <p:notesMasterIdLst>
    <p:notesMasterId xmlns:r="http://schemas.openxmlformats.org/officeDocument/2006/relationships" r:id="R67329699a66c4ade"/>
  </p:notesMasterIdLst>
  <p:sldIdLst>
    <p:sldId xmlns:r="http://schemas.openxmlformats.org/officeDocument/2006/relationships" id="256" r:id="R5e8befbfc2854f83"/>
    <p:sldId xmlns:r="http://schemas.openxmlformats.org/officeDocument/2006/relationships" id="257" r:id="Rcd2803a20ce6465b"/>
    <p:sldId xmlns:r="http://schemas.openxmlformats.org/officeDocument/2006/relationships" id="258" r:id="Rf37e537dde6e4f21"/>
    <p:sldId xmlns:r="http://schemas.openxmlformats.org/officeDocument/2006/relationships" id="259" r:id="R5b4f861686d24b6f"/>
    <p:sldId xmlns:r="http://schemas.openxmlformats.org/officeDocument/2006/relationships" id="260" r:id="Rf1a8787a7ced4af1"/>
    <p:sldId xmlns:r="http://schemas.openxmlformats.org/officeDocument/2006/relationships" id="261" r:id="R4401019558b84e18"/>
    <p:sldId xmlns:r="http://schemas.openxmlformats.org/officeDocument/2006/relationships" id="262" r:id="Ra623bcda95624bdd"/>
    <p:sldId xmlns:r="http://schemas.openxmlformats.org/officeDocument/2006/relationships" id="263" r:id="R833dbc7e8fe54b4e"/>
    <p:sldId xmlns:r="http://schemas.openxmlformats.org/officeDocument/2006/relationships" id="264" r:id="R3c06a36f28b44fde"/>
    <p:sldId xmlns:r="http://schemas.openxmlformats.org/officeDocument/2006/relationships" id="265" r:id="R5d3b6f123dbe46e3"/>
    <p:sldId xmlns:r="http://schemas.openxmlformats.org/officeDocument/2006/relationships" id="266" r:id="R765bda7e44f9424c"/>
    <p:sldId xmlns:r="http://schemas.openxmlformats.org/officeDocument/2006/relationships" id="267" r:id="R0d37ac8d6d6647d0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cf09b9b2a646df" /><Relationship Type="http://schemas.openxmlformats.org/officeDocument/2006/relationships/slideMaster" Target="/ppt/slideMasters/slideMaster1.xml" Id="R4f5f9fde887a4483" /><Relationship Type="http://schemas.openxmlformats.org/officeDocument/2006/relationships/notesMaster" Target="/ppt/notesMasters/notesMaster1.xml" Id="R67329699a66c4ade" /><Relationship Type="http://schemas.openxmlformats.org/officeDocument/2006/relationships/presProps" Target="/ppt/presProps.xml" Id="Rf7d8572e2a974a9c" /><Relationship Type="http://schemas.openxmlformats.org/officeDocument/2006/relationships/viewProps" Target="/ppt/viewProps.xml" Id="Re1590aa6831c4ee3" /><Relationship Type="http://schemas.openxmlformats.org/officeDocument/2006/relationships/tableStyles" Target="/ppt/tableStyles.xml" Id="R291fead4403647d6" /><Relationship Type="http://schemas.openxmlformats.org/officeDocument/2006/relationships/slide" Target="/ppt/slides/slide1.xml" Id="R5e8befbfc2854f83" /><Relationship Type="http://schemas.openxmlformats.org/officeDocument/2006/relationships/slide" Target="/ppt/slides/slide2.xml" Id="Rcd2803a20ce6465b" /><Relationship Type="http://schemas.openxmlformats.org/officeDocument/2006/relationships/slide" Target="/ppt/slides/slide3.xml" Id="Rf37e537dde6e4f21" /><Relationship Type="http://schemas.openxmlformats.org/officeDocument/2006/relationships/slide" Target="/ppt/slides/slide4.xml" Id="R5b4f861686d24b6f" /><Relationship Type="http://schemas.openxmlformats.org/officeDocument/2006/relationships/slide" Target="/ppt/slides/slide5.xml" Id="Rf1a8787a7ced4af1" /><Relationship Type="http://schemas.openxmlformats.org/officeDocument/2006/relationships/slide" Target="/ppt/slides/slide6.xml" Id="R4401019558b84e18" /><Relationship Type="http://schemas.openxmlformats.org/officeDocument/2006/relationships/slide" Target="/ppt/slides/slide7.xml" Id="Ra623bcda95624bdd" /><Relationship Type="http://schemas.openxmlformats.org/officeDocument/2006/relationships/slide" Target="/ppt/slides/slide8.xml" Id="R833dbc7e8fe54b4e" /><Relationship Type="http://schemas.openxmlformats.org/officeDocument/2006/relationships/slide" Target="/ppt/slides/slide9.xml" Id="R3c06a36f28b44fde" /><Relationship Type="http://schemas.openxmlformats.org/officeDocument/2006/relationships/slide" Target="/ppt/slides/slide10.xml" Id="R5d3b6f123dbe46e3" /><Relationship Type="http://schemas.openxmlformats.org/officeDocument/2006/relationships/slide" Target="/ppt/slides/slide11.xml" Id="R765bda7e44f9424c" /><Relationship Type="http://schemas.openxmlformats.org/officeDocument/2006/relationships/slide" Target="/ppt/slides/slide12.xml" Id="R0d37ac8d6d6647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9bbbb8135a40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9e82535ae149f1" /><Relationship Type="http://schemas.openxmlformats.org/officeDocument/2006/relationships/notesMaster" Target="/ppt/notesMasters/notesMaster1.xml" Id="R0124c08c61f745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3bc15b58dd4dd9" /><Relationship Type="http://schemas.openxmlformats.org/officeDocument/2006/relationships/notesMaster" Target="/ppt/notesMasters/notesMaster1.xml" Id="R99108bcf932141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09902e04a0446c" /><Relationship Type="http://schemas.openxmlformats.org/officeDocument/2006/relationships/notesMaster" Target="/ppt/notesMasters/notesMaster1.xml" Id="R0dc20e4f24f545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bd5260bc524578" /><Relationship Type="http://schemas.openxmlformats.org/officeDocument/2006/relationships/notesMaster" Target="/ppt/notesMasters/notesMaster1.xml" Id="Rc49e297129a948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31993baee54583" /><Relationship Type="http://schemas.openxmlformats.org/officeDocument/2006/relationships/notesMaster" Target="/ppt/notesMasters/notesMaster1.xml" Id="R0e309090d4bb4a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37ddfe8bb44bc6" /><Relationship Type="http://schemas.openxmlformats.org/officeDocument/2006/relationships/notesMaster" Target="/ppt/notesMasters/notesMaster1.xml" Id="R2d431272598440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142f5046274542" /><Relationship Type="http://schemas.openxmlformats.org/officeDocument/2006/relationships/notesMaster" Target="/ppt/notesMasters/notesMaster1.xml" Id="R3b5a6117ada742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8bddf5d0854189" /><Relationship Type="http://schemas.openxmlformats.org/officeDocument/2006/relationships/notesMaster" Target="/ppt/notesMasters/notesMaster1.xml" Id="R898d8b8a307848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1b3dfa9f5b4553" /><Relationship Type="http://schemas.openxmlformats.org/officeDocument/2006/relationships/notesMaster" Target="/ppt/notesMasters/notesMaster1.xml" Id="Ref0369445c0e46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80497f283142e8" /><Relationship Type="http://schemas.openxmlformats.org/officeDocument/2006/relationships/notesMaster" Target="/ppt/notesMasters/notesMaster1.xml" Id="R5853848fcb8b4e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1d6c4e6362439b" /><Relationship Type="http://schemas.openxmlformats.org/officeDocument/2006/relationships/notesMaster" Target="/ppt/notesMasters/notesMaster1.xml" Id="Rcdeef7b0e7394e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75eb4e440f4b15" /><Relationship Type="http://schemas.openxmlformats.org/officeDocument/2006/relationships/notesMaster" Target="/ppt/notesMasters/notesMaster1.xml" Id="R52ca61d514a545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a889c10f784dc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c8ea60817d442b" /><Relationship Type="http://schemas.openxmlformats.org/officeDocument/2006/relationships/slideLayout" Target="/ppt/slideLayouts/slideLayout1.xml" Id="R1328acebe0e9489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28acebe0e9489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1d2fd0a024af5" /><Relationship Type="http://schemas.openxmlformats.org/officeDocument/2006/relationships/notesSlide" Target="/ppt/notesSlides/notesSlide1.xml" Id="R4de4bcc1f77d40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4b3321a944aa3" /><Relationship Type="http://schemas.openxmlformats.org/officeDocument/2006/relationships/notesSlide" Target="/ppt/notesSlides/notesSlide2.xml" Id="R75543c9c0bce4d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145e705a34676" /><Relationship Type="http://schemas.openxmlformats.org/officeDocument/2006/relationships/notesSlide" Target="/ppt/notesSlides/notesSlide3.xml" Id="R6132993753c942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41710fe384965" /><Relationship Type="http://schemas.openxmlformats.org/officeDocument/2006/relationships/image" Target="/ppt/media/image.png" Id="Rd3dfd44f95d04904" /><Relationship Type="http://schemas.openxmlformats.org/officeDocument/2006/relationships/image" Target="/ppt/media/image2.png" Id="Rf503c110bc8b4c81" /><Relationship Type="http://schemas.openxmlformats.org/officeDocument/2006/relationships/notesSlide" Target="/ppt/notesSlides/notesSlide4.xml" Id="R50990c5bdc2d4c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e3a2d977c4861" /><Relationship Type="http://schemas.openxmlformats.org/officeDocument/2006/relationships/image" Target="/ppt/media/image3.png" Id="Ra9af595509b548c3" /><Relationship Type="http://schemas.openxmlformats.org/officeDocument/2006/relationships/image" Target="/ppt/media/image4.png" Id="Rc42c247681d9486e" /><Relationship Type="http://schemas.openxmlformats.org/officeDocument/2006/relationships/notesSlide" Target="/ppt/notesSlides/notesSlide5.xml" Id="R8a7a081f117648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8ad54e2a64183" /><Relationship Type="http://schemas.openxmlformats.org/officeDocument/2006/relationships/image" Target="/ppt/media/image5.png" Id="R95fdecc4a4a349bb" /><Relationship Type="http://schemas.openxmlformats.org/officeDocument/2006/relationships/image" Target="/ppt/media/image6.png" Id="Rfdfd08bd924c4a14" /><Relationship Type="http://schemas.openxmlformats.org/officeDocument/2006/relationships/notesSlide" Target="/ppt/notesSlides/notesSlide6.xml" Id="R3c0afa28be764a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87df75f914f93" /><Relationship Type="http://schemas.openxmlformats.org/officeDocument/2006/relationships/image" Target="/ppt/media/image7.png" Id="Re8ab436730cf4d92" /><Relationship Type="http://schemas.openxmlformats.org/officeDocument/2006/relationships/image" Target="/ppt/media/image8.png" Id="R890facb79dc94444" /><Relationship Type="http://schemas.openxmlformats.org/officeDocument/2006/relationships/notesSlide" Target="/ppt/notesSlides/notesSlide7.xml" Id="Rc88057071db04e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b35cb0e154ce9" /><Relationship Type="http://schemas.openxmlformats.org/officeDocument/2006/relationships/notesSlide" Target="/ppt/notesSlides/notesSlide8.xml" Id="R35fe41270b2547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c5bbb29174a72" /><Relationship Type="http://schemas.openxmlformats.org/officeDocument/2006/relationships/notesSlide" Target="/ppt/notesSlides/notesSlide9.xml" Id="Ra01c2d0578f04f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4d0d20ec04b98" /><Relationship Type="http://schemas.openxmlformats.org/officeDocument/2006/relationships/notesSlide" Target="/ppt/notesSlides/notesSlide10.xml" Id="R9c058f2d5f1a47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011880b3744d6" /><Relationship Type="http://schemas.openxmlformats.org/officeDocument/2006/relationships/notesSlide" Target="/ppt/notesSlides/notesSlide11.xml" Id="R52184f5541584d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433e3ce3a4e4a" /><Relationship Type="http://schemas.openxmlformats.org/officeDocument/2006/relationships/hyperlink" Target="https://github.com/vivekyarra/Sanjiv" TargetMode="External" Id="R95d24170d34d4037" /><Relationship Type="http://schemas.openxmlformats.org/officeDocument/2006/relationships/hyperlink" Target="https://drive.google.com/drive/folders/1JDFeLyQOd4g74BhE63Yuh6OCGmCoaf6K?usp=sharing" TargetMode="External" Id="R7d07d8848b1044a2" /><Relationship Type="http://schemas.openxmlformats.org/officeDocument/2006/relationships/hyperlink" Target="mailto:vivekyarra567@gmail.com" TargetMode="External" Id="R566dc35c424d4280" /><Relationship Type="http://schemas.openxmlformats.org/officeDocument/2006/relationships/notesSlide" Target="/ppt/notesSlides/notesSlide12.xml" Id="Rf210e557789043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6D359CE-C29C-4C70-A643-08F9B82E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CAE786-7327-4FFA-8CCF-9C9A5EB6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60120"/>
            <a:ext cx="3931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Sanjiv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4D0F91-3ACF-4A81-A42A-34ED9A84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572768"/>
            <a:ext cx="6583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D7E8FF"/>
                </a:solidFill>
              </a:rPr>
              <a:t>India's Energy Resilience Command Center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B26C141-3C33-4574-8B84-25BCE8EB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121408"/>
            <a:ext cx="5029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00C2FF"/>
                </a:solidFill>
              </a:rPr>
              <a:t>Keep India's energy moving.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FED1B2A-0BCB-4071-AEDD-62FE11C7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542032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2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D3EB6EC-EA89-46D7-B425-D3BD1F30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6360"/>
            <a:ext cx="7498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AF3FF"/>
                </a:solidFill>
              </a:rPr>
              <a:t>Observe  &gt;  Detect  &gt;  Simulate  &gt;  Optimise  &gt;  Approve  &gt;  Monitor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1FA0BAF-5A89-4B16-873D-34BE5560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5852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C8D9EF"/>
                </a:solidFill>
              </a:rPr>
              <a:t>Current UI | 212 tests | 3:55 submitted demo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6013953-568F-4A2D-8789-AC27FE82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120640"/>
            <a:ext cx="132588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4A44D"/>
          </a:solidFill>
          <a:ln xmlns:a="http://schemas.openxmlformats.org/drawingml/2006/main" w="12700">
            <a:solidFill>
              <a:srgbClr val="14A44D">
                <a:alpha val="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1D763C2-F458-40AD-9361-C807ED69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5216652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Working prototype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8A78EBB-73EB-440D-B3AF-9535C542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120640"/>
            <a:ext cx="141732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F62FE"/>
          </a:solidFill>
          <a:ln xmlns:a="http://schemas.openxmlformats.org/drawingml/2006/main"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23450A8-48A6-46F5-AFA3-448FD754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16652"/>
            <a:ext cx="13258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Evidence-backed</a:t>
            </a:r>
          </a:p>
        </p:txBody>
      </p:sp>
    </p:spTree>
    <p:extLst>
      <p:ext uri="{BB962C8B-B14F-4D97-AF65-F5344CB8AC3E}">
        <p14:creationId xmlns:p14="http://schemas.microsoft.com/office/powerpoint/2010/main" val="3942777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5436ABD-9AC4-4C74-B320-80E16911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5F6921A-7001-411C-8375-6468AC17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2552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52CF0C7-11D6-4F31-8700-C02F73EF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046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81426"/>
                </a:solidFill>
                <a:latin typeface="Aptos Display"/>
                <a:ea typeface="Aptos Display"/>
                <a:cs typeface="Aptos Display"/>
              </a:rPr>
              <a:t>A supply shock is a business decision, not just a data problem.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3831B05-1BC8-49EA-A6E5-6B1C76E3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68096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D6B82"/>
                </a:solidFill>
              </a:rPr>
              <a:t>Energy teams need a shared, auditable path from a corridor signal to a decision they can defend.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0B79F5E-0C5F-422B-BE8D-59DD8D16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81426"/>
                </a:solidFill>
              </a:rPr>
              <a:t>What breaks in the operating model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50D590-1F2F-4E69-825F-26B09CDF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512064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52033"/>
                </a:solidFill>
              </a:rPr>
              <a:t>A disruption hits continuity, exposure, inventory and procurement at once. Fragmented dashboards do not give teams a common decision package.</a:t>
            </a:r>
          </a:p>
          <a:p xmlns:a="http://schemas.openxmlformats.org/drawingml/2006/main">
            <a:r>
              <a:rPr sz="1300">
                <a:solidFill>
                  <a:srgbClr val="152033"/>
                </a:solidFill>
              </a:rPr>
              <a:t>Under uncertainty, unsupported claims are as risky as missing data.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9590521-649F-4239-BE6D-17EFB8DF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417320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81426"/>
                </a:solidFill>
              </a:rPr>
              <a:t>What Sanjiv makes possible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C605FE5-996E-4F15-963D-E9AEEC8A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828800"/>
            <a:ext cx="4480560" cy="1536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52033"/>
                </a:solidFill>
              </a:rPr>
              <a:t>Test the no-action consequence.</a:t>
            </a:r>
          </a:p>
          <a:p xmlns:a="http://schemas.openxmlformats.org/drawingml/2006/main">
            <a:r>
              <a:rPr sz="1300">
                <a:solidFill>
                  <a:srgbClr val="152033"/>
                </a:solidFill>
              </a:rPr>
              <a:t>Compare cost, continuity and concentration trade-offs.</a:t>
            </a:r>
          </a:p>
          <a:p xmlns:a="http://schemas.openxmlformats.org/drawingml/2006/main">
            <a:r>
              <a:rPr sz="1300">
                <a:solidFill>
                  <a:srgbClr val="152033"/>
                </a:solidFill>
              </a:rPr>
              <a:t>Carry evidence and assumptions into approval.</a:t>
            </a:r>
          </a:p>
          <a:p xmlns:a="http://schemas.openxmlformats.org/drawingml/2006/main">
            <a:r>
              <a:rPr sz="1300">
                <a:solidFill>
                  <a:srgbClr val="152033"/>
                </a:solidFill>
              </a:rPr>
              <a:t>Monitor the declared outcome after a decision.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1584E7B-B1A5-4E1A-BA6D-01E27687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155448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7B0CFF7-7BED-4AC7-AFCB-B80995ED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47488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0F62FE"/>
                </a:solidFill>
              </a:rPr>
              <a:t>6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76B7A06-96E9-4796-88D7-C4155C1F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239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>
                <a:solidFill>
                  <a:srgbClr val="5D6B82"/>
                </a:solidFill>
              </a:rPr>
              <a:t>decision stages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FA4726B-D6BF-4675-A0F2-E4C62531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892040"/>
            <a:ext cx="155448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15E4FB-600F-4EB9-855A-A2ECCE63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5047488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5E35B1"/>
                </a:solidFill>
              </a:rPr>
              <a:t>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7FEAA-44C2-4DFA-9573-3202F886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42239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>
                <a:solidFill>
                  <a:srgbClr val="5D6B82"/>
                </a:solidFill>
              </a:rPr>
              <a:t>procurement profiles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70D398C-6FC7-47C8-B5E2-30544DD1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892040"/>
            <a:ext cx="155448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9E36BF4-7929-44C1-A327-F58451F4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5047488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B020"/>
                </a:solidFill>
              </a:rPr>
              <a:t>4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7A8A7B0-C1C4-4E9B-B0FF-0DF01594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542239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>
                <a:solidFill>
                  <a:srgbClr val="5D6B82"/>
                </a:solidFill>
              </a:rPr>
              <a:t>reserve policies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E0DC1EB-7804-4BE7-8F6C-0A2568B6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92040"/>
            <a:ext cx="155448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8A2BAE1-9F38-4F9C-8441-3D27ACA2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047488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00A88F"/>
                </a:solidFill>
              </a:rPr>
              <a:t>100%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073FDB7-3E3D-48BA-ADE0-7F72DE67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42239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>
                <a:solidFill>
                  <a:srgbClr val="5D6B82"/>
                </a:solidFill>
              </a:rPr>
              <a:t>provenance target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82E2C86-5298-4280-9F3A-A6276666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892040"/>
            <a:ext cx="155448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FEAD2A1-D12B-4D00-8AB2-34BEF07D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47488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D64545"/>
                </a:solidFill>
              </a:rPr>
              <a:t>0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70980F0-7C05-41D7-B7CE-41943187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542239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>
                <a:solidFill>
                  <a:srgbClr val="5D6B82"/>
                </a:solidFill>
              </a:rPr>
              <a:t>autonomous orders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0162C5C-B9A7-40AC-BFC0-DBA37F13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>
                <a:solidFill>
                  <a:srgbClr val="5D6B82"/>
                </a:solidFill>
              </a:rPr>
              <a:t>Sanjiv | ET AI Hackathon 2026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0C7B70D-62B3-4522-BA3F-C1A04A32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>
                <a:solidFill>
                  <a:srgbClr val="5D6B82"/>
                </a:solidFill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1875441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77DA6C5-EB74-4138-889A-277E2519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E395D1C-6612-4E57-B085-73225F92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2552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568BE2F-303F-4EBE-80F1-7EDA491D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046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81426"/>
                </a:solidFill>
                <a:latin typeface="Aptos Display"/>
                <a:ea typeface="Aptos Display"/>
                <a:cs typeface="Aptos Display"/>
              </a:rPr>
              <a:t>One workflow from signal to human decision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BC15757-DC3F-452F-BE66-1881C416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68096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D6B82"/>
                </a:solidFill>
              </a:rPr>
              <a:t>The same scenario powers risk, simulation, optimisation, evidence and approval.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34DB555-3346-4D34-9459-0A70FB27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14173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F62FE"/>
          </a:solidFill>
          <a:ln xmlns:a="http://schemas.openxmlformats.org/drawingml/2006/main"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07F83E1-3450-44F5-907F-62800A7A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1527048"/>
            <a:ext cx="134416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Observe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93D2DCF-F081-4735-A2FD-D7821B9B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636776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D6B82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5CD38A0-D713-4E10-9781-D6E56C79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371600"/>
            <a:ext cx="14173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E88E5"/>
          </a:solidFill>
          <a:ln xmlns:a="http://schemas.openxmlformats.org/drawingml/2006/main"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0F9CF44-BABD-4C5C-A7C7-6FC180B6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456" y="1527048"/>
            <a:ext cx="134416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Detect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B8E5AA0-0E5F-4B84-A768-41C8D02D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36776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D6B82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B2F0360-DA43-4380-AA23-E5FA2B23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71600"/>
            <a:ext cx="14173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A88F"/>
          </a:solidFill>
          <a:ln xmlns:a="http://schemas.openxmlformats.org/drawingml/2006/main" w="12700">
            <a:solidFill>
              <a:srgbClr val="00A88F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1FE34E-D43A-4F20-8F48-534FB2D4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527048"/>
            <a:ext cx="134416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Simulate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4FBD0EC-47C1-454A-B6F3-0F5A28EC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636776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D6B82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58CED45-BCD5-4FD8-BAD4-73981BE5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14173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5E35B1"/>
          </a:solidFill>
          <a:ln xmlns:a="http://schemas.openxmlformats.org/drawingml/2006/main" w="12700">
            <a:solidFill>
              <a:srgbClr val="5E35B1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B8939FA-D390-4BB1-A913-27F6B5AD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527048"/>
            <a:ext cx="134416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Optimise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5976FF1-BF67-4806-BCB6-C4063F00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636776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D6B82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739D527-C649-4C59-B56F-ED7226A4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371600"/>
            <a:ext cx="14173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7E22"/>
          </a:solidFill>
          <a:ln xmlns:a="http://schemas.openxmlformats.org/drawingml/2006/main" w="12700">
            <a:solidFill>
              <a:srgbClr val="E67E22">
                <a:alpha val="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6456A86-4077-4473-A870-937C488F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1527048"/>
            <a:ext cx="134416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9E7DAF3-F379-4783-AF6D-F536867B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636776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D6B82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80D8464-06DF-4905-B987-75AEF62E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1371600"/>
            <a:ext cx="14173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A44D"/>
          </a:solidFill>
          <a:ln xmlns:a="http://schemas.openxmlformats.org/drawingml/2006/main" w="12700">
            <a:solidFill>
              <a:srgbClr val="14A44D">
                <a:alpha val="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AF15EC5-0548-446A-BBC0-94558555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1527048"/>
            <a:ext cx="134416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C19CD3D-3786-4108-8D9E-2A464AE9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2316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52033"/>
                </a:solidFill>
              </a:rPr>
              <a:t>A live or replayed threat appears - or the user types a scenario.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4F3CE69-1F25-440A-9919-77E9C8EC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2316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52033"/>
                </a:solidFill>
              </a:rPr>
              <a:t>The twin estimates which flows and assets are exposed.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012EB00-2DE4-44DC-946A-7A359272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423160"/>
            <a:ext cx="3383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52033"/>
                </a:solidFill>
              </a:rPr>
              <a:t>Sanjiv compares no action, procurement and reserve response.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0941C93-689C-40CF-A2D7-4FA83DBD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160520"/>
            <a:ext cx="9601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081426"/>
                </a:solidFill>
              </a:rPr>
              <a:t>Human approval is blocked unless evidence, assumptions, solver and checker results all pass.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D82DC2A-2B76-49C8-B358-446F9E13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89204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5D6B82"/>
                </a:solidFill>
              </a:rPr>
              <a:t>This is decision intelligence, not an autonomous trading or reserve-release system.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5F71364-2DC9-42F2-9816-E6597237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>
                <a:solidFill>
                  <a:srgbClr val="5D6B82"/>
                </a:solidFill>
              </a:rPr>
              <a:t>Sanjiv | ET AI Hackathon 2026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9794484-4AB8-4BBB-911C-67D110FB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>
                <a:solidFill>
                  <a:srgbClr val="5D6B82"/>
                </a:solidFill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8519698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FB7BE19-945C-4230-BBF0-5C3CB6F0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D40632-2FD5-41AD-95C3-83BD1C93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2552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10CABBA-2E8A-4ABD-A862-EF5D553A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046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81426"/>
                </a:solidFill>
                <a:latin typeface="Aptos Display"/>
                <a:ea typeface="Aptos Display"/>
                <a:cs typeface="Aptos Display"/>
              </a:rPr>
              <a:t>Observed data and replay remain visibly separate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5547F62-A468-4433-9BA6-D7E16640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68096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D6B82"/>
                </a:solidFill>
              </a:rPr>
              <a:t>A current public observation can strengthen the demo without becoming a false live-AIS or disruption claim.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39F8B5F-7807-4C53-8CF3-5235940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257800" cy="4343400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C743C2B-2E01-4E94-B841-8EFCB549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64208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81426"/>
                </a:solidFill>
              </a:rPr>
              <a:t>Command Center - observed signal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C9E9299-E699-47EA-8AFA-D2F95698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57750"/>
            <a:ext cx="438912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52033"/>
                </a:solidFill>
              </a:rPr>
              <a:t>IMF PortWatch: 4 tanker transits, 15 total transits and 39,216 t estimated tanker tonnage for 19 Jul 2026. OBSERVED / CURRENT.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30F6209-02BC-49FA-8366-33022CC1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17320"/>
            <a:ext cx="5257800" cy="4343400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34D9D71-F3C0-4053-B966-649AFC34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664208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81426"/>
                </a:solidFill>
              </a:rPr>
              <a:t>Risk - observed card + fixture model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07F6C56-1599-4FE2-ABF1-4E40B270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857750"/>
            <a:ext cx="438912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52033"/>
                </a:solidFill>
              </a:rPr>
              <a:t>The observed card sits above the structural ranking. Severity remains fixture-based and is not disruption probability.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2C34754-AD1D-4C36-8530-2959BD05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>
                <a:solidFill>
                  <a:srgbClr val="5D6B82"/>
                </a:solidFill>
              </a:rPr>
              <a:t>Sanjiv | ET AI Hackathon 2026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614CAB5-96E7-471D-9B36-465E462B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>
                <a:solidFill>
                  <a:srgbClr val="5D6B82"/>
                </a:solidFill>
              </a:rPr>
              <a:t>4/12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fd44f95d04904"/>
          <a:stretch xmlns:a="http://schemas.openxmlformats.org/drawingml/2006/main"/>
        </p:blipFill>
        <p:spPr>
          <a:xfrm xmlns:a="http://schemas.openxmlformats.org/drawingml/2006/main">
            <a:off x="868680" y="2002631"/>
            <a:ext cx="4800600" cy="2700338"/>
          </a:xfrm>
          <a:prstGeom xmlns:a="http://schemas.openxmlformats.org/drawingml/2006/main" prst="roundRect">
            <a:avLst>
              <a:gd name="adj" fmla="val 2817"/>
            </a:avLst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3c110bc8b4c81"/>
          <a:stretch xmlns:a="http://schemas.openxmlformats.org/drawingml/2006/main"/>
        </p:blipFill>
        <p:spPr>
          <a:xfrm xmlns:a="http://schemas.openxmlformats.org/drawingml/2006/main">
            <a:off x="6537960" y="2002631"/>
            <a:ext cx="4800600" cy="2700338"/>
          </a:xfrm>
          <a:prstGeom xmlns:a="http://schemas.openxmlformats.org/drawingml/2006/main" prst="roundRect">
            <a:avLst>
              <a:gd name="adj" fmla="val 2817"/>
            </a:avLst>
          </a:prstGeom>
        </p:spPr>
      </p:pic>
    </p:spTree>
    <p:extLst>
      <p:ext uri="{BB962C8B-B14F-4D97-AF65-F5344CB8AC3E}">
        <p14:creationId xmlns:p14="http://schemas.microsoft.com/office/powerpoint/2010/main" val="1225760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FB7BE19-945C-4230-BBF0-5C3CB6F0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D40632-2FD5-41AD-95C3-83BD1C93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2552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10CABBA-2E8A-4ABD-A862-EF5D553A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046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81426"/>
                </a:solidFill>
                <a:latin typeface="Aptos Display"/>
                <a:ea typeface="Aptos Display"/>
                <a:cs typeface="Aptos Display"/>
              </a:rPr>
              <a:t>Freeze the network state before asking the model to reason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5547F62-A468-4433-9BA6-D7E16640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68096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D6B82"/>
                </a:solidFill>
              </a:rPr>
              <a:t>One frozen twin and scenario fingerprint carry into simulation, optimisation and audit.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39F8B5F-7807-4C53-8CF3-5235940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257800" cy="4343400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C743C2B-2E01-4E94-B841-8EFCB549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64208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81426"/>
                </a:solidFill>
              </a:rPr>
              <a:t>Digital Twin - conserved reference state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C9E9299-E699-47EA-8AFA-D2F95698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57750"/>
            <a:ext cx="438912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52033"/>
                </a:solidFill>
              </a:rPr>
              <a:t>The reference twin is explicitly assumption-driven; mass balance must reconcile before a snapshot is usable.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30F6209-02BC-49FA-8366-33022CC1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17320"/>
            <a:ext cx="5257800" cy="4343400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34D9D71-F3C0-4053-B966-649AFC34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664208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81426"/>
                </a:solidFill>
              </a:rPr>
              <a:t>Scenario Lab - compile, confirm, simulate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07F6C56-1599-4FE2-ABF1-4E40B270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857750"/>
            <a:ext cx="438912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52033"/>
                </a:solidFill>
              </a:rPr>
              <a:t>A user confirms the parsed disruption before freeze. The no-action run is bounded sensitivity, not a probability forecast.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2C34754-AD1D-4C36-8530-2959BD05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>
                <a:solidFill>
                  <a:srgbClr val="5D6B82"/>
                </a:solidFill>
              </a:rPr>
              <a:t>Sanjiv | ET AI Hackathon 2026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614CAB5-96E7-471D-9B36-465E462B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>
                <a:solidFill>
                  <a:srgbClr val="5D6B82"/>
                </a:solidFill>
              </a:rPr>
              <a:t>5/12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f595509b548c3"/>
          <a:stretch xmlns:a="http://schemas.openxmlformats.org/drawingml/2006/main"/>
        </p:blipFill>
        <p:spPr>
          <a:xfrm xmlns:a="http://schemas.openxmlformats.org/drawingml/2006/main">
            <a:off x="868680" y="2002631"/>
            <a:ext cx="4800600" cy="2700338"/>
          </a:xfrm>
          <a:prstGeom xmlns:a="http://schemas.openxmlformats.org/drawingml/2006/main" prst="roundRect">
            <a:avLst>
              <a:gd name="adj" fmla="val 2817"/>
            </a:avLst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c247681d9486e"/>
          <a:stretch xmlns:a="http://schemas.openxmlformats.org/drawingml/2006/main"/>
        </p:blipFill>
        <p:spPr>
          <a:xfrm xmlns:a="http://schemas.openxmlformats.org/drawingml/2006/main">
            <a:off x="6537960" y="2002631"/>
            <a:ext cx="4800600" cy="2700338"/>
          </a:xfrm>
          <a:prstGeom xmlns:a="http://schemas.openxmlformats.org/drawingml/2006/main" prst="roundRect">
            <a:avLst>
              <a:gd name="adj" fmla="val 2817"/>
            </a:avLst>
          </a:prstGeom>
        </p:spPr>
      </p:pic>
    </p:spTree>
    <p:extLst>
      <p:ext uri="{BB962C8B-B14F-4D97-AF65-F5344CB8AC3E}">
        <p14:creationId xmlns:p14="http://schemas.microsoft.com/office/powerpoint/2010/main" val="1225760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FB7BE19-945C-4230-BBF0-5C3CB6F0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D40632-2FD5-41AD-95C3-83BD1C93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2552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10CABBA-2E8A-4ABD-A862-EF5D553A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046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81426"/>
                </a:solidFill>
                <a:latin typeface="Aptos Display"/>
                <a:ea typeface="Aptos Display"/>
                <a:cs typeface="Aptos Display"/>
              </a:rPr>
              <a:t>Checked choices beat one magic answer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5547F62-A468-4433-9BA6-D7E16640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68096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D6B82"/>
                </a:solidFill>
              </a:rPr>
              <a:t>Every candidate exposes the trade-off it makes; independent checkers must pass before the plan can move forward.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39F8B5F-7807-4C53-8CF3-5235940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257800" cy="4343400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C743C2B-2E01-4E94-B841-8EFCB549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64208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81426"/>
                </a:solidFill>
              </a:rPr>
              <a:t>Response Planner - 3 profiles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C9E9299-E699-47EA-8AFA-D2F95698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57750"/>
            <a:ext cx="438912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52033"/>
                </a:solidFill>
              </a:rPr>
              <a:t>Lowest cost, balanced and highest resilience share hard constraints and expose modeled allocations, provenance and assumptions.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30F6209-02BC-49FA-8366-33022CC1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17320"/>
            <a:ext cx="5257800" cy="4343400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34D9D71-F3C0-4053-B966-649AFC34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664208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81426"/>
                </a:solidFill>
              </a:rPr>
              <a:t>Strategic Reserve - 4 policies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07F6C56-1599-4FE2-ABF1-4E40B270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857750"/>
            <a:ext cx="438912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52033"/>
                </a:solidFill>
              </a:rPr>
              <a:t>Public capacity is not current fill. Opening inventory remains an explicit assumption until an operator supplies verified data.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2C34754-AD1D-4C36-8530-2959BD05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>
                <a:solidFill>
                  <a:srgbClr val="5D6B82"/>
                </a:solidFill>
              </a:rPr>
              <a:t>Sanjiv | ET AI Hackathon 2026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614CAB5-96E7-471D-9B36-465E462B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>
                <a:solidFill>
                  <a:srgbClr val="5D6B82"/>
                </a:solidFill>
              </a:rPr>
              <a:t>6/12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decc4a4a349bb"/>
          <a:stretch xmlns:a="http://schemas.openxmlformats.org/drawingml/2006/main"/>
        </p:blipFill>
        <p:spPr>
          <a:xfrm xmlns:a="http://schemas.openxmlformats.org/drawingml/2006/main">
            <a:off x="868680" y="2002631"/>
            <a:ext cx="4800600" cy="2700338"/>
          </a:xfrm>
          <a:prstGeom xmlns:a="http://schemas.openxmlformats.org/drawingml/2006/main" prst="roundRect">
            <a:avLst>
              <a:gd name="adj" fmla="val 2817"/>
            </a:avLst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d08bd924c4a14"/>
          <a:stretch xmlns:a="http://schemas.openxmlformats.org/drawingml/2006/main"/>
        </p:blipFill>
        <p:spPr>
          <a:xfrm xmlns:a="http://schemas.openxmlformats.org/drawingml/2006/main">
            <a:off x="6537960" y="2002631"/>
            <a:ext cx="4800600" cy="2700338"/>
          </a:xfrm>
          <a:prstGeom xmlns:a="http://schemas.openxmlformats.org/drawingml/2006/main" prst="roundRect">
            <a:avLst>
              <a:gd name="adj" fmla="val 2817"/>
            </a:avLst>
          </a:prstGeom>
        </p:spPr>
      </p:pic>
    </p:spTree>
    <p:extLst>
      <p:ext uri="{BB962C8B-B14F-4D97-AF65-F5344CB8AC3E}">
        <p14:creationId xmlns:p14="http://schemas.microsoft.com/office/powerpoint/2010/main" val="12257606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FB7BE19-945C-4230-BBF0-5C3CB6F0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D40632-2FD5-41AD-95C3-83BD1C93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2552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10CABBA-2E8A-4ABD-A862-EF5D553A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046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81426"/>
                </a:solidFill>
                <a:latin typeface="Aptos Display"/>
                <a:ea typeface="Aptos Display"/>
                <a:cs typeface="Aptos Display"/>
              </a:rPr>
              <a:t>Trust requires evidence and a human signature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5547F62-A468-4433-9BA6-D7E16640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68096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D6B82"/>
                </a:solidFill>
              </a:rPr>
              <a:t>The interface preserves the full path from plan fingerprint to approval, replay, sensitivity and monitored export.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39F8B5F-7807-4C53-8CF3-5235940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257800" cy="4343400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C743C2B-2E01-4E94-B841-8EFCB549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64208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81426"/>
                </a:solidFill>
              </a:rPr>
              <a:t>Evidence &amp; Approval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C9E9299-E699-47EA-8AFA-D2F95698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57750"/>
            <a:ext cx="438912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52033"/>
                </a:solidFill>
              </a:rPr>
              <a:t>The audit reports PASSED with 100.0% coverage and RECOMPUTE_RECONCILED. Approval records actor, role, comment and UTC time.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30F6209-02BC-49FA-8366-33022CC1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17320"/>
            <a:ext cx="5257800" cy="4343400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34D9D71-F3C0-4053-B966-649AFC34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664208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81426"/>
                </a:solidFill>
              </a:rPr>
              <a:t>Replay, sensitivity &amp; export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07F6C56-1599-4FE2-ABF1-4E40B270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857750"/>
            <a:ext cx="438912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52033"/>
                </a:solidFill>
              </a:rPr>
              <a:t>Twenty-one versioned synthetic cases keep regression evidence repeatable. Outputs remain audited decisions, not execution.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2C34754-AD1D-4C36-8530-2959BD05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>
                <a:solidFill>
                  <a:srgbClr val="5D6B82"/>
                </a:solidFill>
              </a:rPr>
              <a:t>Sanjiv | ET AI Hackathon 2026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614CAB5-96E7-471D-9B36-465E462B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>
                <a:solidFill>
                  <a:srgbClr val="5D6B82"/>
                </a:solidFill>
              </a:rPr>
              <a:t>7/12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b436730cf4d92"/>
          <a:stretch xmlns:a="http://schemas.openxmlformats.org/drawingml/2006/main"/>
        </p:blipFill>
        <p:spPr>
          <a:xfrm xmlns:a="http://schemas.openxmlformats.org/drawingml/2006/main">
            <a:off x="868680" y="2002631"/>
            <a:ext cx="4800600" cy="2700338"/>
          </a:xfrm>
          <a:prstGeom xmlns:a="http://schemas.openxmlformats.org/drawingml/2006/main" prst="roundRect">
            <a:avLst>
              <a:gd name="adj" fmla="val 2817"/>
            </a:avLst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facb79dc94444"/>
          <a:stretch xmlns:a="http://schemas.openxmlformats.org/drawingml/2006/main"/>
        </p:blipFill>
        <p:spPr>
          <a:xfrm xmlns:a="http://schemas.openxmlformats.org/drawingml/2006/main">
            <a:off x="6537960" y="2002631"/>
            <a:ext cx="4800600" cy="2700338"/>
          </a:xfrm>
          <a:prstGeom xmlns:a="http://schemas.openxmlformats.org/drawingml/2006/main" prst="roundRect">
            <a:avLst>
              <a:gd name="adj" fmla="val 2817"/>
            </a:avLst>
          </a:prstGeom>
        </p:spPr>
      </p:pic>
    </p:spTree>
    <p:extLst>
      <p:ext uri="{BB962C8B-B14F-4D97-AF65-F5344CB8AC3E}">
        <p14:creationId xmlns:p14="http://schemas.microsoft.com/office/powerpoint/2010/main" val="12257606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A9F52A3-C9C1-427E-A881-DEEAF3B3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A63A37F-5419-4A11-9F77-8DDD690E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2552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1749641-207C-4CB9-870E-5B5928EF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046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81426"/>
                </a:solidFill>
                <a:latin typeface="Aptos Display"/>
                <a:ea typeface="Aptos Display"/>
                <a:cs typeface="Aptos Display"/>
              </a:rPr>
              <a:t>Evidence Auditor: the trust layer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5DAC219-7CCF-47E7-97BE-22B55374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68096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D6B82"/>
                </a:solidFill>
              </a:rPr>
              <a:t>Every decision KPI must explain where it came from and why the user should trust it.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D29F1F3-3035-4C87-8819-0CD64302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81426"/>
                </a:solidFill>
              </a:rPr>
              <a:t>A plan can be blocked by: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13342B2-3B61-49E4-89F5-6E80A307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4572000" cy="23042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52033"/>
                </a:solidFill>
              </a:rPr>
              <a:t>missing or stale evidence</a:t>
            </a:r>
          </a:p>
          <a:p xmlns:a="http://schemas.openxmlformats.org/drawingml/2006/main">
            <a:r>
              <a:rPr sz="1250">
                <a:solidFill>
                  <a:srgbClr val="152033"/>
                </a:solidFill>
              </a:rPr>
              <a:t>expired or superseded assumptions</a:t>
            </a:r>
          </a:p>
          <a:p xmlns:a="http://schemas.openxmlformats.org/drawingml/2006/main">
            <a:r>
              <a:rPr sz="1250">
                <a:solidFill>
                  <a:srgbClr val="152033"/>
                </a:solidFill>
              </a:rPr>
              <a:t>metric recomputation mismatch</a:t>
            </a:r>
          </a:p>
          <a:p xmlns:a="http://schemas.openxmlformats.org/drawingml/2006/main">
            <a:r>
              <a:rPr sz="1250">
                <a:solidFill>
                  <a:srgbClr val="152033"/>
                </a:solidFill>
              </a:rPr>
              <a:t>failed solver/checker result</a:t>
            </a:r>
          </a:p>
          <a:p xmlns:a="http://schemas.openxmlformats.org/drawingml/2006/main">
            <a:r>
              <a:rPr sz="1250">
                <a:solidFill>
                  <a:srgbClr val="152033"/>
                </a:solidFill>
              </a:rPr>
              <a:t>unsupported claim language</a:t>
            </a:r>
          </a:p>
          <a:p xmlns:a="http://schemas.openxmlformats.org/drawingml/2006/main">
            <a:r>
              <a:rPr sz="1250">
                <a:solidFill>
                  <a:srgbClr val="152033"/>
                </a:solidFill>
              </a:rPr>
              <a:t>changed plan fingerprint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A5DCC8A-B998-4CA4-8630-A010B083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81426"/>
                </a:solidFill>
              </a:rPr>
              <a:t>Approval requires: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B8EA3BC-B14E-4319-B5BE-23484551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457200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52033"/>
                </a:solidFill>
              </a:rPr>
              <a:t>authenticated role</a:t>
            </a:r>
          </a:p>
          <a:p xmlns:a="http://schemas.openxmlformats.org/drawingml/2006/main">
            <a:r>
              <a:rPr sz="1250">
                <a:solidFill>
                  <a:srgbClr val="152033"/>
                </a:solidFill>
              </a:rPr>
              <a:t>unchanged scenario, simulation, twin and plan fingerprints</a:t>
            </a:r>
          </a:p>
          <a:p xmlns:a="http://schemas.openxmlformats.org/drawingml/2006/main">
            <a:r>
              <a:rPr sz="1250">
                <a:solidFill>
                  <a:srgbClr val="152033"/>
                </a:solidFill>
              </a:rPr>
              <a:t>passed independent checker</a:t>
            </a:r>
          </a:p>
          <a:p xmlns:a="http://schemas.openxmlformats.org/drawingml/2006/main">
            <a:r>
              <a:rPr sz="1250">
                <a:solidFill>
                  <a:srgbClr val="152033"/>
                </a:solidFill>
              </a:rPr>
              <a:t>passed Evidence Auditor</a:t>
            </a:r>
          </a:p>
          <a:p xmlns:a="http://schemas.openxmlformats.org/drawingml/2006/main">
            <a:r>
              <a:rPr sz="1250">
                <a:solidFill>
                  <a:srgbClr val="152033"/>
                </a:solidFill>
              </a:rPr>
              <a:t>immutable actor, comment and UTC timestamp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F0DAC97-8FDE-4FC6-833C-FEE836D6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029200"/>
            <a:ext cx="932688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7EA"/>
          </a:solidFill>
          <a:ln xmlns:a="http://schemas.openxmlformats.org/drawingml/2006/main" w="12700">
            <a:solidFill>
              <a:srgbClr val="14A44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16A9D13-6795-4122-81DB-43D3A7C1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184648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81426"/>
                </a:solidFill>
              </a:rPr>
              <a:t>Sanjiv recommends. People decide. Every decision remains auditable.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58CE7FE-4332-44A9-8BAD-3A5E68AF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>
                <a:solidFill>
                  <a:srgbClr val="5D6B82"/>
                </a:solidFill>
              </a:rPr>
              <a:t>Sanjiv | ET AI Hackathon 2026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01503ED-6F18-4F65-988C-DE0DD2C6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>
                <a:solidFill>
                  <a:srgbClr val="5D6B82"/>
                </a:solidFill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6345108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E50B9F-2ED2-4178-A4E4-46BFAA7B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A89C3CD-5662-47FE-96FF-030676B1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2552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BCF1BF9-9214-4A95-A61E-7C7F68B9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046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81426"/>
                </a:solidFill>
                <a:latin typeface="Aptos Display"/>
                <a:ea typeface="Aptos Display"/>
                <a:cs typeface="Aptos Display"/>
              </a:rPr>
              <a:t>Validation is part of the product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A57B6C7-37AD-4090-8663-E4F03C38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68096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D6B82"/>
                </a:solidFill>
              </a:rPr>
              <a:t>Current repository evidence: 212 tests, two complete browser journeys, a clean committed benchmark and explicit security checks.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EB4CCDD-0EA9-4828-B8C6-0A09AAAF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0"/>
            <a:ext cx="201168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58E13E-528F-4132-A965-1607BCFB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27048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0F62FE"/>
                </a:solidFill>
              </a:rPr>
              <a:t>212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1285DD0-D9A7-48BC-ABD1-DD7B055B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>
                <a:solidFill>
                  <a:srgbClr val="5D6B82"/>
                </a:solidFill>
              </a:rPr>
              <a:t>188 Python + 23 web + 1 contract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3393849-AA3E-4AEF-A557-A9573D49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371600"/>
            <a:ext cx="201168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F2CFF22-BE07-4376-B1D9-871159C3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527048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00A88F"/>
                </a:solidFill>
              </a:rPr>
              <a:t>2 journeys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73F2910-37BB-40A3-96BA-189F54C4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90195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>
                <a:solidFill>
                  <a:srgbClr val="5D6B82"/>
                </a:solidFill>
              </a:rPr>
              <a:t>All 8 product screens; Observe to Monitor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280A4BF-577A-4B55-80A6-7892E9F9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371600"/>
            <a:ext cx="201168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135FDF-1CED-492B-809E-23A97DE6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527048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4A44D"/>
                </a:solidFill>
              </a:rPr>
              <a:t>CLEAN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977FA0D-3096-40DC-A4F7-33DAD466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90195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>
                <a:solidFill>
                  <a:srgbClr val="5D6B82"/>
                </a:solidFill>
              </a:rPr>
              <a:t>benchmark source: CLEAN_COMMITTED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E053368-0AF1-44A6-AE8B-9F6163E5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71600"/>
            <a:ext cx="201168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43691E-16B9-4AD6-B029-72E82D5F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527048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5E35B1"/>
                </a:solidFill>
              </a:rPr>
              <a:t>8 / 8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9FE80CA-FD96-404C-B15B-F4E87F31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0195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>
                <a:solidFill>
                  <a:srgbClr val="5D6B82"/>
                </a:solidFill>
              </a:rPr>
              <a:t>security checks passed; 0 failure names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8631CA1-8A95-4669-9872-AAAC8DA3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63240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81426"/>
                </a:solidFill>
              </a:rPr>
              <a:t>Quality gates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E1C9808-F191-45A3-9CED-D4D6F784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5029200" cy="23042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52033"/>
                </a:solidFill>
              </a:rPr>
              <a:t>212 tests: 188 Python / 23 web / 1 contract</a:t>
            </a:r>
          </a:p>
          <a:p xmlns:a="http://schemas.openxmlformats.org/drawingml/2006/main">
            <a:r>
              <a:rPr sz="1250">
                <a:solidFill>
                  <a:srgbClr val="152033"/>
                </a:solidFill>
              </a:rPr>
              <a:t>lint + strict type checks + production build</a:t>
            </a:r>
          </a:p>
          <a:p xmlns:a="http://schemas.openxmlformats.org/drawingml/2006/main">
            <a:r>
              <a:rPr sz="1250">
                <a:solidFill>
                  <a:srgbClr val="152033"/>
                </a:solidFill>
              </a:rPr>
              <a:t>contract drift clean</a:t>
            </a:r>
          </a:p>
          <a:p xmlns:a="http://schemas.openxmlformats.org/drawingml/2006/main">
            <a:r>
              <a:rPr sz="1250">
                <a:solidFill>
                  <a:srgbClr val="152033"/>
                </a:solidFill>
              </a:rPr>
              <a:t>2 Playwright journeys / 8 real screenshots</a:t>
            </a:r>
          </a:p>
          <a:p xmlns:a="http://schemas.openxmlformats.org/drawingml/2006/main">
            <a:r>
              <a:rPr sz="1250">
                <a:solidFill>
                  <a:srgbClr val="152033"/>
                </a:solidFill>
              </a:rPr>
              <a:t>clean benchmark at commit de5140a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A74A567-EE54-44D5-8FCB-4AB2B192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63240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81426"/>
                </a:solidFill>
              </a:rPr>
              <a:t>Honest labels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2A68AF7-9B21-455B-A0C4-F85304D0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474720"/>
            <a:ext cx="475488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52033"/>
                </a:solidFill>
              </a:rPr>
              <a:t>PortWatch: OBSERVED / CURRENT</a:t>
            </a:r>
          </a:p>
          <a:p xmlns:a="http://schemas.openxmlformats.org/drawingml/2006/main">
            <a:r>
              <a:rPr sz="1250">
                <a:solidFill>
                  <a:srgbClr val="152033"/>
                </a:solidFill>
              </a:rPr>
              <a:t>AIS position layer: REPLAY</a:t>
            </a:r>
          </a:p>
          <a:p xmlns:a="http://schemas.openxmlformats.org/drawingml/2006/main">
            <a:r>
              <a:rPr sz="1250">
                <a:solidFill>
                  <a:srgbClr val="152033"/>
                </a:solidFill>
              </a:rPr>
              <a:t>risk model: FIXTURE</a:t>
            </a:r>
          </a:p>
          <a:p xmlns:a="http://schemas.openxmlformats.org/drawingml/2006/main">
            <a:r>
              <a:rPr sz="1250">
                <a:solidFill>
                  <a:srgbClr val="152033"/>
                </a:solidFill>
              </a:rPr>
              <a:t>severity is not probability</a:t>
            </a:r>
          </a:p>
          <a:p xmlns:a="http://schemas.openxmlformats.org/drawingml/2006/main">
            <a:r>
              <a:rPr sz="1250">
                <a:solidFill>
                  <a:srgbClr val="152033"/>
                </a:solidFill>
              </a:rPr>
              <a:t>commercial inputs: ASSUMPTION</a:t>
            </a:r>
          </a:p>
          <a:p xmlns:a="http://schemas.openxmlformats.org/drawingml/2006/main">
            <a:r>
              <a:rPr sz="1250">
                <a:solidFill>
                  <a:srgbClr val="152033"/>
                </a:solidFill>
              </a:rPr>
              <a:t>reserve fill: never inferred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D2F6675-18CC-495B-ADBC-D632F950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>
                <a:solidFill>
                  <a:srgbClr val="5D6B82"/>
                </a:solidFill>
              </a:rPr>
              <a:t>Sanjiv | ET AI Hackathon 2026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5933267-0088-4BA2-B4CD-92FD0A0F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>
                <a:solidFill>
                  <a:srgbClr val="5D6B82"/>
                </a:solidFill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0020192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99CF5C1-A0E5-4DAF-AD26-67C57605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EAE0539-DE1F-4DC4-A131-AFE205DF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2552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101859-0331-40FF-8439-BD679CB8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046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81426"/>
                </a:solidFill>
                <a:latin typeface="Aptos Display"/>
                <a:ea typeface="Aptos Display"/>
                <a:cs typeface="Aptos Display"/>
              </a:rPr>
              <a:t>Architecture built to scale without losing truth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54F8460-C4FE-4273-ABB6-B6AC21B6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68096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D6B82"/>
                </a:solidFill>
              </a:rPr>
              <a:t>Provider-neutral adapters feed an evidence ledger; all decisions consume immutable fingerprints.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0EFEB6B-8717-4E17-91F5-658A487C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68859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75106F6-F278-4329-A02A-D6CC0C83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307592"/>
            <a:ext cx="1633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AIS / Replay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D26B477-A520-4540-88EA-1AA89914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120" y="1143000"/>
            <a:ext cx="168859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5EB7ECD-0242-4E5A-B271-096DE8F0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552" y="1307592"/>
            <a:ext cx="1633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GDELT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E4CD35B-D96C-47F6-ACB6-B4E11861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1143000"/>
            <a:ext cx="168859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7205B3E-9176-4288-AE07-47F32728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72" y="1307592"/>
            <a:ext cx="1633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PortWatch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8256B7B-7158-420A-9A78-3526B81D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143000"/>
            <a:ext cx="168859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9502FE3-5A07-448A-B49C-AD0DCE27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1307592"/>
            <a:ext cx="1633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OFAC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A6139F1-BD0B-4DE1-8BE5-AA8F8C2A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080" y="1143000"/>
            <a:ext cx="168859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F98D8CE-0837-466A-A8B6-083E5D87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512" y="1307592"/>
            <a:ext cx="1633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FIRMS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CAA38DB-EFF4-4E81-8A51-40B546DA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143000"/>
            <a:ext cx="168859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A93A2AB-5146-4AC0-B8CF-4122025E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832" y="1307592"/>
            <a:ext cx="1633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EIA / FRED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23BCF60-01EA-472F-A690-4AE72667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691640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D6B82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639FA0C-5B15-4B44-B128-9F2C369A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8840"/>
            <a:ext cx="258775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6F2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81A0B13-916A-4F1E-B281-BD00E894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13432"/>
            <a:ext cx="25328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Evidence ledger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31466EC-3690-4199-B06A-B9F60D48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148840"/>
            <a:ext cx="258775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6F2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D81B5D2-D440-4635-8AFF-4BB5AE44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313432"/>
            <a:ext cx="25328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Source health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4C031E7-50FD-4C25-82AA-CD550CDF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148840"/>
            <a:ext cx="258775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6F2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24CF633-A41E-4842-94E9-0E670FFD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2313432"/>
            <a:ext cx="25328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Assumption registry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AACCBE6-4FA4-4A4F-948B-33A0F876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148840"/>
            <a:ext cx="258775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6F2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A9790A6-9B37-457E-BFA6-02A4DE65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2313432"/>
            <a:ext cx="25328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Audit trail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1B19F25-BD29-4AAA-AD58-5AEA2DB3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697480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D6B82"/>
            </a:solidFill>
            <a:prstDash val="solid"/>
            <a:headEnd type="none"/>
            <a:tailEnd type="triangle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FA00C24-B4CA-4CAC-A21C-2A950B20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4680"/>
            <a:ext cx="258775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DA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22766EF-66A0-4AB9-890C-F575BE3B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319272"/>
            <a:ext cx="25328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Digital twin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39787D-82FD-454D-9BDE-2AC0B3E8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154680"/>
            <a:ext cx="258775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DA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55A612E-92BC-4042-B527-F7061654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3319272"/>
            <a:ext cx="25328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Risk engine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48FEC87D-57C9-4F2E-91D9-40190A72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154680"/>
            <a:ext cx="258775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DA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3A5538C5-3AB6-41F3-A71D-F6CC20B3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3319272"/>
            <a:ext cx="25328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Scenario compiler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27FD5491-E017-4322-AE57-8F481E3A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54680"/>
            <a:ext cx="258775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DA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B84D898-8259-4757-8BCF-6496E7C9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3319272"/>
            <a:ext cx="25328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Impact simulator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F0532E66-AC71-4968-8DAA-85069DB2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703320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D6B82"/>
            </a:solidFill>
            <a:prstDash val="solid"/>
            <a:headEnd type="none"/>
            <a:tailEnd type="triangle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3F841505-40BA-4A42-BFF8-EA7CA615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0520"/>
            <a:ext cx="258775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0E9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40E423AB-B031-48BD-B3EA-E2F4C8A4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25112"/>
            <a:ext cx="25328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Procurement solver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8F0E3AD0-B44D-4B7B-89BC-3E40C545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160520"/>
            <a:ext cx="258775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0E9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93C92E0-8F06-44EB-8B96-AE2305AC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4325112"/>
            <a:ext cx="25328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Reserve solver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F0A32B49-28D5-46BC-8027-F57FB697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160520"/>
            <a:ext cx="258775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0E9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E00500E1-19B6-4B0F-A32F-B1205AC5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4325112"/>
            <a:ext cx="25328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Independent checkers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3C96906C-6947-4E2E-837C-C855181C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160520"/>
            <a:ext cx="258775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0E9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5848BB5-5F61-477A-BD19-916B2BE0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325112"/>
            <a:ext cx="25328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Evidence auditor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F5B801D9-324F-4DBC-99F9-A78C9457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709160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D6B82"/>
            </a:solidFill>
            <a:prstDash val="solid"/>
            <a:headEnd type="none"/>
            <a:tailEnd type="triangle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CCC35B09-CCC3-483A-853C-D78FE00F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6360"/>
            <a:ext cx="258775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7EA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C6E643EF-6BBC-4586-820C-CB9683AB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330952"/>
            <a:ext cx="25328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Command UI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9541155E-5975-434A-9295-DB836E25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5166360"/>
            <a:ext cx="258775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7EA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2F316874-9D94-49B0-AE06-0EC47833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5330952"/>
            <a:ext cx="25328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Replay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25DCF09-CF2D-499C-B7D0-7C7BF332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166360"/>
            <a:ext cx="258775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7EA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E1823C37-9509-41CB-B045-A5C36285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5330952"/>
            <a:ext cx="25328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Exports</a:t>
            </a:r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44695FB4-AB27-4F46-A86F-E1AD19C6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5166360"/>
            <a:ext cx="2587752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7EA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464DCE27-62E7-447E-9B83-E3AEE24B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5330952"/>
            <a:ext cx="25328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1426"/>
                </a:solidFill>
              </a:rPr>
              <a:t>Monitoring</a:t>
            </a:r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CD972191-B93F-428B-BEF3-B2BDE4E3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>
                <a:solidFill>
                  <a:srgbClr val="5D6B82"/>
                </a:solidFill>
              </a:rPr>
              <a:t>Sanjiv | ET AI Hackathon 2026</a:t>
            </a:r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6E698825-46E5-451C-B758-F8AE4C43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>
                <a:solidFill>
                  <a:srgbClr val="5D6B82"/>
                </a:solidFill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5466849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6DCD6D-527A-4684-84F1-B2306C7C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A7C99CB-1A85-41FA-9AA7-2B3858FC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2552"/>
            <a:ext cx="12191695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D6DB370-7FBD-4F4A-97F9-B6E10A4A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046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81426"/>
                </a:solidFill>
                <a:latin typeface="Aptos Display"/>
                <a:ea typeface="Aptos Display"/>
                <a:cs typeface="Aptos Display"/>
              </a:rPr>
              <a:t>A 3 min 55 sec demo of a pilot-ready decision loop.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B8D7478-10DC-4DBA-AC78-1A3B05D3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68096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D6B82"/>
                </a:solidFill>
              </a:rPr>
              <a:t>The submitted video turns an observed public signal into a governed response package; the pilot starts in shadow mode, without autonomous execution.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695E846-9200-49BF-BD9F-965AC553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887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62FE"/>
                </a:solidFill>
              </a:rPr>
              <a:t>1.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D3CCBED-B21A-43EE-920D-C9E7A918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88720"/>
            <a:ext cx="9966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52033"/>
                </a:solidFill>
              </a:rPr>
              <a:t>Observe current PortWatch alongside replay context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3BF0F3A-68AA-435D-A1A3-6EF14E52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82496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62FE"/>
                </a:solidFill>
              </a:rPr>
              <a:t>2.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6951812-719E-411F-B31E-B1E45950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82496"/>
            <a:ext cx="9966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52033"/>
                </a:solidFill>
              </a:rPr>
              <a:t>Inspect risk, confidence and data completeness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FE5DBF9-7E82-43E4-8C11-B6EAC9D5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76272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62FE"/>
                </a:solidFill>
              </a:rPr>
              <a:t>3.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58407D1-81BB-498B-9C39-1B9E203C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6272"/>
            <a:ext cx="9966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52033"/>
                </a:solidFill>
              </a:rPr>
              <a:t>Confirm one business disruption scenario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4AF0E4B-136B-472D-BE9A-59310785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70048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62FE"/>
                </a:solidFill>
              </a:rPr>
              <a:t>4.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2FE8AD3-EEA2-41C5-AB86-5B6A8520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70048"/>
            <a:ext cx="9966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52033"/>
                </a:solidFill>
              </a:rPr>
              <a:t>See the no-action shortfall and impact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ABF3ED4-BF30-4B94-85D9-76319BB8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63824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62FE"/>
                </a:solidFill>
              </a:rPr>
              <a:t>5.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9F6FE60-072C-43DD-AF85-7FB825B9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3824"/>
            <a:ext cx="9966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52033"/>
                </a:solidFill>
              </a:rPr>
              <a:t>Compare cost, continuity and concentration trade-offs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C6F1EB2-74C4-4992-9ADE-6933129C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62FE"/>
                </a:solidFill>
              </a:rPr>
              <a:t>6.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12C8C15-CAEC-4914-A130-4C2AA90B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9966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52033"/>
                </a:solidFill>
              </a:rPr>
              <a:t>Check reserve policy without inventing fill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F2C5335-E35D-4CAA-9E55-9F96BBD1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51376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62FE"/>
                </a:solidFill>
              </a:rPr>
              <a:t>7.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FBCEE6E-7957-4239-AC7E-6B6A1603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1376"/>
            <a:ext cx="9966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52033"/>
                </a:solidFill>
              </a:rPr>
              <a:t>Open the evidence and decision rationale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0E45D28-EFAB-48BD-B440-4669AF8F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45152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62FE"/>
                </a:solidFill>
              </a:rPr>
              <a:t>8.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0AA1321-EA3F-4CFB-AB48-E41951F5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45152"/>
            <a:ext cx="9966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52033"/>
                </a:solidFill>
              </a:rPr>
              <a:t>Record human review and approval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9647E92-3612-4F7D-9C08-0C22DFD1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38928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62FE"/>
                </a:solidFill>
              </a:rPr>
              <a:t>9.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474BF4A-0979-4022-9438-93028337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38928"/>
            <a:ext cx="9966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52033"/>
                </a:solidFill>
              </a:rPr>
              <a:t>Monitor the declared replay outcome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CBF3BA8-B780-4DE7-81B7-D82A95B8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806440"/>
            <a:ext cx="10241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81426"/>
                </a:solidFill>
              </a:rPr>
              <a:t>Submitted demo length: 3 min 55 sec. Business adoption begins with one corridor, one commodity and shadow-mode use alongside existing governance.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A683DCE-7565-4429-914F-96461F61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>
                <a:solidFill>
                  <a:srgbClr val="5D6B82"/>
                </a:solidFill>
              </a:rPr>
              <a:t>Sanjiv | ET AI Hackathon 2026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B5B5EC9-2949-40B6-B35A-1C660C82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>
                <a:solidFill>
                  <a:srgbClr val="5D6B82"/>
                </a:solidFill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3518565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1B73270-83E1-4437-A040-F2C1D8AB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12700">
            <a:solidFill>
              <a:srgbClr val="081426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B25FADF-22AE-4530-BECC-94D53B2C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31089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</a:rPr>
              <a:t>Sanjiv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12E424-2815-4163-9594-0378357B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91640"/>
            <a:ext cx="87782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2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EAF3FF"/>
                </a:solidFill>
              </a:rPr>
              <a:t>A current public signal arrives - or an analyst defines a scenario. Sanjiv gives risk, procurement and reserve teams one common, auditable decision package: what is observed, what is modeled, and what needs human sign-off.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3325B3F-7B1B-4A56-8523-1B2A20EB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16352"/>
            <a:ext cx="4572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0C2FF"/>
                </a:solidFill>
              </a:rPr>
              <a:t>Keep India's energy moving.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AAAA6E1-C6EE-48DD-B961-AB57F53E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38928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D7E8FF"/>
                </a:solidFill>
              </a:rPr>
              <a:t>Business value: explainable trade-offs, human authority and a monitored outcome.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D7E8FF"/>
                </a:solidFill>
                <a:hlinkClick xmlns:r="http://schemas.openxmlformats.org/officeDocument/2006/relationships" r:id="R95d24170d34d4037"/>
              </a:rPr>
              <a:t>GitHub</a:t>
            </a:r>
            <a:r>
              <a:rPr sz="1300">
                <a:solidFill>
                  <a:srgbClr val="D7E8FF"/>
                </a:solidFill>
              </a:rPr>
              <a:t>  |  </a:t>
            </a:r>
            <a:r>
              <a:rPr sz="1300">
                <a:solidFill>
                  <a:srgbClr val="D7E8FF"/>
                </a:solidFill>
                <a:hlinkClick xmlns:r="http://schemas.openxmlformats.org/officeDocument/2006/relationships" r:id="R7d07d8848b1044a2"/>
              </a:rPr>
              <a:t>Demo</a:t>
            </a:r>
            <a:r>
              <a:rPr sz="1300">
                <a:solidFill>
                  <a:srgbClr val="D7E8FF"/>
                </a:solidFill>
              </a:rPr>
              <a:t>  |  </a:t>
            </a:r>
            <a:r>
              <a:rPr sz="1300">
                <a:solidFill>
                  <a:srgbClr val="D7E8FF"/>
                </a:solidFill>
                <a:hlinkClick xmlns:r="http://schemas.openxmlformats.org/officeDocument/2006/relationships" r:id="R566dc35c424d4280"/>
              </a:rPr>
              <a:t>vivekyarra567@gmail.com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F403842-96F3-4E24-9856-F54D6914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15000"/>
            <a:ext cx="91440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F62FE"/>
          </a:solidFill>
          <a:ln xmlns:a="http://schemas.openxmlformats.org/drawingml/2006/main"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F61532B-F884-4026-AF62-4C6569C5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11012"/>
            <a:ext cx="8229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Observe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DCF35FF-4DC9-4540-B541-9E34CC38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5715000"/>
            <a:ext cx="86868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E88E5"/>
          </a:solidFill>
          <a:ln xmlns:a="http://schemas.openxmlformats.org/drawingml/2006/main"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B9088ED-9B5D-4899-B0CA-18F87BC9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11012"/>
            <a:ext cx="777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Detect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09322AC-AF19-4406-98C1-055B8A4A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5715000"/>
            <a:ext cx="105156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A88F"/>
          </a:solidFill>
          <a:ln xmlns:a="http://schemas.openxmlformats.org/drawingml/2006/main" w="12700">
            <a:solidFill>
              <a:srgbClr val="00A88F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286C63-BE59-465B-9463-9CD0EC09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5811012"/>
            <a:ext cx="9601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Simulate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80FC3A2-5F8A-4E6B-8D29-6D05439B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5715000"/>
            <a:ext cx="105156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E35B1"/>
          </a:solidFill>
          <a:ln xmlns:a="http://schemas.openxmlformats.org/drawingml/2006/main" w="12700">
            <a:solidFill>
              <a:srgbClr val="5E35B1">
                <a:alpha val="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48B20CE-9F1A-4483-871E-1890B441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5811012"/>
            <a:ext cx="9601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Optimise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0F341B5-C519-476D-9E98-5622A2A0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5715000"/>
            <a:ext cx="105156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67E22"/>
          </a:solidFill>
          <a:ln xmlns:a="http://schemas.openxmlformats.org/drawingml/2006/main" w="12700">
            <a:solidFill>
              <a:srgbClr val="E67E22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FD8128D-1DC9-438D-A7AB-1901900E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811012"/>
            <a:ext cx="9601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C856AD0-CD40-47B6-857E-E2CE25EC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715000"/>
            <a:ext cx="96012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4A44D"/>
          </a:solidFill>
          <a:ln xmlns:a="http://schemas.openxmlformats.org/drawingml/2006/main" w="12700">
            <a:solidFill>
              <a:srgbClr val="14A44D">
                <a:alpha val="0"/>
              </a:srgbClr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98515EA-CFFF-490A-95D7-A1A441FE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11012"/>
            <a:ext cx="8686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Monitor</a:t>
            </a:r>
          </a:p>
        </p:txBody>
      </p:sp>
    </p:spTree>
    <p:extLst>
      <p:ext uri="{BB962C8B-B14F-4D97-AF65-F5344CB8AC3E}">
        <p14:creationId xmlns:p14="http://schemas.microsoft.com/office/powerpoint/2010/main" val="197230695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2026-07-22T17:29:08.6590000Z</dcterms:created>
  <dcterms:modified xsi:type="dcterms:W3CDTF">2026-07-22T17:29:08.6590000Z</dcterms:modified>
</coreProperties>
</file>